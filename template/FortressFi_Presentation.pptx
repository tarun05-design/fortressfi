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859500" cy="10287000"/>
  <p:notesSz cx="6858000" cy="9144000"/>
  <p:embeddedFontLst>
    <p:embeddedFont>
      <p:font typeface="Antonio Bold" panose="020B0604020202020204" charset="0"/>
      <p:regular r:id="rId10"/>
    </p:embeddedFont>
    <p:embeddedFont>
      <p:font typeface="Poppins Bold" panose="020B0604020202020204" charset="0"/>
      <p:regular r:id="rId1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49" d="100"/>
          <a:sy n="49" d="100"/>
        </p:scale>
        <p:origin x="936" y="22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hyperlink" Target="https://fortressfi.onrender.com/"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tarun05-design/FortressFi" TargetMode="External"/><Relationship Id="rId2" Type="http://schemas.openxmlformats.org/officeDocument/2006/relationships/hyperlink" Target="https://fortressfi.onrender.com/"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6645874" y="620428"/>
            <a:ext cx="1184926" cy="1050798"/>
          </a:xfrm>
          <a:custGeom>
            <a:avLst/>
            <a:gdLst/>
            <a:ahLst/>
            <a:cxnLst/>
            <a:rect l="l" t="t" r="r" b="b"/>
            <a:pathLst>
              <a:path w="1184926" h="1050798">
                <a:moveTo>
                  <a:pt x="0" y="0"/>
                </a:moveTo>
                <a:lnTo>
                  <a:pt x="1184926" y="0"/>
                </a:lnTo>
                <a:lnTo>
                  <a:pt x="1184926" y="1050799"/>
                </a:lnTo>
                <a:lnTo>
                  <a:pt x="0" y="1050799"/>
                </a:lnTo>
                <a:lnTo>
                  <a:pt x="0" y="0"/>
                </a:lnTo>
                <a:close/>
              </a:path>
            </a:pathLst>
          </a:custGeom>
          <a:blipFill>
            <a:blip r:embed="rId2"/>
            <a:stretch>
              <a:fillRect l="-27031" t="-28043" r="-20273" b="-38064"/>
            </a:stretch>
          </a:blipFill>
        </p:spPr>
        <p:txBody>
          <a:bodyPr/>
          <a:lstStyle/>
          <a:p>
            <a:endParaRPr lang="en-IN"/>
          </a:p>
        </p:txBody>
      </p:sp>
      <p:grpSp>
        <p:nvGrpSpPr>
          <p:cNvPr id="3" name="Group 3"/>
          <p:cNvGrpSpPr/>
          <p:nvPr/>
        </p:nvGrpSpPr>
        <p:grpSpPr>
          <a:xfrm>
            <a:off x="9716904" y="523542"/>
            <a:ext cx="6183758" cy="1244571"/>
            <a:chOff x="0" y="0"/>
            <a:chExt cx="8245010" cy="1659429"/>
          </a:xfrm>
        </p:grpSpPr>
        <p:sp>
          <p:nvSpPr>
            <p:cNvPr id="4" name="Freeform 4"/>
            <p:cNvSpPr/>
            <p:nvPr/>
          </p:nvSpPr>
          <p:spPr>
            <a:xfrm>
              <a:off x="1008656" y="0"/>
              <a:ext cx="1982708" cy="1659429"/>
            </a:xfrm>
            <a:custGeom>
              <a:avLst/>
              <a:gdLst/>
              <a:ahLst/>
              <a:cxnLst/>
              <a:rect l="l" t="t" r="r" b="b"/>
              <a:pathLst>
                <a:path w="1982708" h="1659429">
                  <a:moveTo>
                    <a:pt x="0" y="0"/>
                  </a:moveTo>
                  <a:lnTo>
                    <a:pt x="1982708" y="0"/>
                  </a:lnTo>
                  <a:lnTo>
                    <a:pt x="1982708" y="1659429"/>
                  </a:lnTo>
                  <a:lnTo>
                    <a:pt x="0" y="1659429"/>
                  </a:lnTo>
                  <a:lnTo>
                    <a:pt x="0" y="0"/>
                  </a:lnTo>
                  <a:close/>
                </a:path>
              </a:pathLst>
            </a:custGeom>
            <a:blipFill>
              <a:blip r:embed="rId3"/>
              <a:stretch>
                <a:fillRect l="-58459" r="-276320"/>
              </a:stretch>
            </a:blipFill>
          </p:spPr>
          <p:txBody>
            <a:bodyPr/>
            <a:lstStyle/>
            <a:p>
              <a:endParaRPr lang="en-IN"/>
            </a:p>
          </p:txBody>
        </p:sp>
        <p:sp>
          <p:nvSpPr>
            <p:cNvPr id="5" name="Freeform 5"/>
            <p:cNvSpPr/>
            <p:nvPr/>
          </p:nvSpPr>
          <p:spPr>
            <a:xfrm>
              <a:off x="0" y="0"/>
              <a:ext cx="1008656" cy="1659429"/>
            </a:xfrm>
            <a:custGeom>
              <a:avLst/>
              <a:gdLst/>
              <a:ahLst/>
              <a:cxnLst/>
              <a:rect l="l" t="t" r="r" b="b"/>
              <a:pathLst>
                <a:path w="1008656" h="1659429">
                  <a:moveTo>
                    <a:pt x="0" y="0"/>
                  </a:moveTo>
                  <a:lnTo>
                    <a:pt x="1008656" y="0"/>
                  </a:lnTo>
                  <a:lnTo>
                    <a:pt x="1008656" y="1659429"/>
                  </a:lnTo>
                  <a:lnTo>
                    <a:pt x="0" y="1659429"/>
                  </a:lnTo>
                  <a:lnTo>
                    <a:pt x="0" y="0"/>
                  </a:lnTo>
                  <a:close/>
                </a:path>
              </a:pathLst>
            </a:custGeom>
            <a:blipFill>
              <a:blip r:embed="rId4"/>
              <a:stretch>
                <a:fillRect l="-14912" r="-739730"/>
              </a:stretch>
            </a:blipFill>
          </p:spPr>
          <p:txBody>
            <a:bodyPr/>
            <a:lstStyle/>
            <a:p>
              <a:endParaRPr lang="en-IN"/>
            </a:p>
          </p:txBody>
        </p:sp>
        <p:sp>
          <p:nvSpPr>
            <p:cNvPr id="6" name="Freeform 6"/>
            <p:cNvSpPr/>
            <p:nvPr/>
          </p:nvSpPr>
          <p:spPr>
            <a:xfrm>
              <a:off x="2766385" y="0"/>
              <a:ext cx="5478625" cy="1659429"/>
            </a:xfrm>
            <a:custGeom>
              <a:avLst/>
              <a:gdLst/>
              <a:ahLst/>
              <a:cxnLst/>
              <a:rect l="l" t="t" r="r" b="b"/>
              <a:pathLst>
                <a:path w="5478625" h="1659429">
                  <a:moveTo>
                    <a:pt x="0" y="0"/>
                  </a:moveTo>
                  <a:lnTo>
                    <a:pt x="5478625" y="0"/>
                  </a:lnTo>
                  <a:lnTo>
                    <a:pt x="5478625" y="1659429"/>
                  </a:lnTo>
                  <a:lnTo>
                    <a:pt x="0" y="1659429"/>
                  </a:lnTo>
                  <a:lnTo>
                    <a:pt x="0" y="0"/>
                  </a:lnTo>
                  <a:close/>
                </a:path>
              </a:pathLst>
            </a:custGeom>
            <a:blipFill>
              <a:blip r:embed="rId3"/>
              <a:stretch>
                <a:fillRect l="-57346"/>
              </a:stretch>
            </a:blipFill>
          </p:spPr>
          <p:txBody>
            <a:bodyPr/>
            <a:lstStyle/>
            <a:p>
              <a:endParaRPr lang="en-IN"/>
            </a:p>
          </p:txBody>
        </p:sp>
      </p:grpSp>
      <p:sp>
        <p:nvSpPr>
          <p:cNvPr id="7" name="TextBox 7"/>
          <p:cNvSpPr txBox="1"/>
          <p:nvPr/>
        </p:nvSpPr>
        <p:spPr>
          <a:xfrm>
            <a:off x="3111988" y="3479703"/>
            <a:ext cx="12635525" cy="3565719"/>
          </a:xfrm>
          <a:prstGeom prst="rect">
            <a:avLst/>
          </a:prstGeom>
        </p:spPr>
        <p:txBody>
          <a:bodyPr lIns="0" tIns="0" rIns="0" bIns="0" rtlCol="0" anchor="t">
            <a:spAutoFit/>
          </a:bodyPr>
          <a:lstStyle/>
          <a:p>
            <a:pPr algn="ctr">
              <a:lnSpc>
                <a:spcPts val="27516"/>
              </a:lnSpc>
            </a:pPr>
            <a:r>
              <a:rPr lang="en-US" sz="25015" b="1" spc="-625" dirty="0">
                <a:solidFill>
                  <a:srgbClr val="FFFFFF"/>
                </a:solidFill>
                <a:latin typeface="Antonio Bold"/>
                <a:ea typeface="Antonio Bold"/>
                <a:cs typeface="Antonio Bold"/>
                <a:sym typeface="Antonio Bold"/>
              </a:rPr>
              <a:t>INIT’26</a:t>
            </a:r>
          </a:p>
        </p:txBody>
      </p:sp>
      <p:grpSp>
        <p:nvGrpSpPr>
          <p:cNvPr id="8" name="Group 8"/>
          <p:cNvGrpSpPr/>
          <p:nvPr/>
        </p:nvGrpSpPr>
        <p:grpSpPr>
          <a:xfrm>
            <a:off x="4138413" y="4202072"/>
            <a:ext cx="10582674" cy="1558010"/>
            <a:chOff x="0" y="0"/>
            <a:chExt cx="14110232" cy="2077347"/>
          </a:xfrm>
        </p:grpSpPr>
        <p:sp>
          <p:nvSpPr>
            <p:cNvPr id="9" name="Freeform 9"/>
            <p:cNvSpPr/>
            <p:nvPr/>
          </p:nvSpPr>
          <p:spPr>
            <a:xfrm rot="5400000">
              <a:off x="-604319" y="604319"/>
              <a:ext cx="2077347" cy="868709"/>
            </a:xfrm>
            <a:custGeom>
              <a:avLst/>
              <a:gdLst/>
              <a:ahLst/>
              <a:cxnLst/>
              <a:rect l="l" t="t" r="r" b="b"/>
              <a:pathLst>
                <a:path w="2077347" h="868709">
                  <a:moveTo>
                    <a:pt x="0" y="0"/>
                  </a:moveTo>
                  <a:lnTo>
                    <a:pt x="2077347" y="0"/>
                  </a:lnTo>
                  <a:lnTo>
                    <a:pt x="2077347" y="868709"/>
                  </a:lnTo>
                  <a:lnTo>
                    <a:pt x="0" y="868709"/>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dirty="0"/>
            </a:p>
          </p:txBody>
        </p:sp>
        <p:sp>
          <p:nvSpPr>
            <p:cNvPr id="10" name="Freeform 10"/>
            <p:cNvSpPr/>
            <p:nvPr/>
          </p:nvSpPr>
          <p:spPr>
            <a:xfrm rot="5400000" flipH="1" flipV="1">
              <a:off x="12637204" y="604319"/>
              <a:ext cx="2077347" cy="868709"/>
            </a:xfrm>
            <a:custGeom>
              <a:avLst/>
              <a:gdLst/>
              <a:ahLst/>
              <a:cxnLst/>
              <a:rect l="l" t="t" r="r" b="b"/>
              <a:pathLst>
                <a:path w="2077347" h="868709">
                  <a:moveTo>
                    <a:pt x="2077347" y="868709"/>
                  </a:moveTo>
                  <a:lnTo>
                    <a:pt x="0" y="868709"/>
                  </a:lnTo>
                  <a:lnTo>
                    <a:pt x="0" y="0"/>
                  </a:lnTo>
                  <a:lnTo>
                    <a:pt x="2077347" y="0"/>
                  </a:lnTo>
                  <a:lnTo>
                    <a:pt x="2077347" y="868709"/>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IN"/>
            </a:p>
          </p:txBody>
        </p:sp>
      </p:grpSp>
      <p:sp>
        <p:nvSpPr>
          <p:cNvPr id="21" name="AutoShape 21"/>
          <p:cNvSpPr/>
          <p:nvPr/>
        </p:nvSpPr>
        <p:spPr>
          <a:xfrm>
            <a:off x="16272137" y="460047"/>
            <a:ext cx="0" cy="1371560"/>
          </a:xfrm>
          <a:prstGeom prst="line">
            <a:avLst/>
          </a:prstGeom>
          <a:ln w="38100" cap="flat">
            <a:solidFill>
              <a:srgbClr val="FFFFFF"/>
            </a:solidFill>
            <a:prstDash val="solid"/>
            <a:headEnd type="none" w="sm" len="sm"/>
            <a:tailEnd type="none" w="sm" len="sm"/>
          </a:ln>
        </p:spPr>
        <p:txBody>
          <a:bodyPr/>
          <a:lstStyle/>
          <a:p>
            <a:endParaRPr lang="en-IN"/>
          </a:p>
        </p:txBody>
      </p:sp>
      <p:sp>
        <p:nvSpPr>
          <p:cNvPr id="23" name="TextBox 23"/>
          <p:cNvSpPr txBox="1"/>
          <p:nvPr/>
        </p:nvSpPr>
        <p:spPr>
          <a:xfrm>
            <a:off x="3057077" y="7378118"/>
            <a:ext cx="12745346" cy="1314450"/>
          </a:xfrm>
          <a:prstGeom prst="rect">
            <a:avLst/>
          </a:prstGeom>
        </p:spPr>
        <p:txBody>
          <a:bodyPr lIns="0" tIns="0" rIns="0" bIns="0" rtlCol="0" anchor="t">
            <a:spAutoFit/>
          </a:bodyPr>
          <a:lstStyle/>
          <a:p>
            <a:pPr algn="ctr">
              <a:lnSpc>
                <a:spcPts val="10050"/>
              </a:lnSpc>
            </a:pPr>
            <a:r>
              <a:rPr lang="en-US" sz="7500" b="1">
                <a:solidFill>
                  <a:srgbClr val="000000"/>
                </a:solidFill>
                <a:latin typeface="Poppins Bold"/>
                <a:ea typeface="Poppins Bold"/>
                <a:cs typeface="Poppins Bold"/>
                <a:sym typeface="Poppins Bold"/>
              </a:rPr>
              <a:t>(</a:t>
            </a:r>
          </a:p>
        </p:txBody>
      </p:sp>
      <p:sp>
        <p:nvSpPr>
          <p:cNvPr id="24" name="Rounded Rectangle 23"/>
          <p:cNvSpPr/>
          <p:nvPr/>
        </p:nvSpPr>
        <p:spPr>
          <a:xfrm>
            <a:off x="4053589" y="7378118"/>
            <a:ext cx="10752321" cy="14630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400"/>
              </a:spcAft>
              <a:defRPr sz="1400" b="1">
                <a:solidFill>
                  <a:srgbClr val="34D399"/>
                </a:solidFill>
                <a:latin typeface="Arial"/>
              </a:defRPr>
            </a:pPr>
            <a:r>
              <a:rPr sz="1600" dirty="0"/>
              <a:t>INIT'26 FINTECH</a:t>
            </a:r>
            <a:r>
              <a:rPr lang="en-US" sz="1600" dirty="0"/>
              <a:t> TRACK</a:t>
            </a:r>
            <a:r>
              <a:rPr sz="1600" dirty="0"/>
              <a:t> HACKATHON  //  ASSET &amp; CAPITAL MANAGEMENT</a:t>
            </a:r>
          </a:p>
          <a:p>
            <a:pPr algn="ctr">
              <a:spcAft>
                <a:spcPts val="0"/>
              </a:spcAft>
              <a:defRPr sz="2200" b="1">
                <a:solidFill>
                  <a:srgbClr val="FFFFFF"/>
                </a:solidFill>
                <a:latin typeface="Arial"/>
              </a:defRPr>
            </a:pPr>
            <a:r>
              <a:rPr sz="2800" dirty="0" err="1"/>
              <a:t>FortressFi</a:t>
            </a:r>
            <a:r>
              <a:rPr sz="2800" dirty="0"/>
              <a:t>  -  Adaptive Risk-Guardrail Portfolio Engine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MEET FORTRESSFI</a:t>
            </a:r>
          </a:p>
        </p:txBody>
      </p:sp>
      <p:sp>
        <p:nvSpPr>
          <p:cNvPr id="6" name="Rounded Rectangle 5"/>
          <p:cNvSpPr/>
          <p:nvPr/>
        </p:nvSpPr>
        <p:spPr>
          <a:xfrm>
            <a:off x="1047750" y="2476500"/>
            <a:ext cx="7966710" cy="53340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365760" rIns="274320" bIns="182880" rtlCol="0" anchor="ctr"/>
          <a:lstStyle/>
          <a:p>
            <a:pPr algn="l">
              <a:spcAft>
                <a:spcPts val="600"/>
              </a:spcAft>
              <a:defRPr sz="1200" b="1">
                <a:solidFill>
                  <a:srgbClr val="38BDF8"/>
                </a:solidFill>
                <a:latin typeface="Arial"/>
              </a:defRPr>
            </a:pPr>
            <a:r>
              <a:rPr sz="1600" dirty="0"/>
              <a:t>TRACK</a:t>
            </a:r>
          </a:p>
          <a:p>
            <a:pPr>
              <a:spcAft>
                <a:spcPts val="1600"/>
              </a:spcAft>
              <a:defRPr sz="1800" b="1">
                <a:solidFill>
                  <a:srgbClr val="FFFFFF"/>
                </a:solidFill>
                <a:latin typeface="Arial"/>
              </a:defRPr>
            </a:pPr>
            <a:r>
              <a:rPr dirty="0"/>
              <a:t>FinTech - Asset &amp; Capital Management</a:t>
            </a:r>
            <a:r>
              <a:rPr lang="en-US" dirty="0"/>
              <a:t> </a:t>
            </a:r>
            <a:r>
              <a:rPr lang="en-IN" b="1" dirty="0"/>
              <a:t>/ Optimization Controls</a:t>
            </a:r>
            <a:endParaRPr dirty="0"/>
          </a:p>
          <a:p>
            <a:pPr algn="l">
              <a:spcAft>
                <a:spcPts val="600"/>
              </a:spcAft>
              <a:defRPr sz="1200" b="1">
                <a:solidFill>
                  <a:srgbClr val="38BDF8"/>
                </a:solidFill>
                <a:latin typeface="Arial"/>
              </a:defRPr>
            </a:pPr>
            <a:r>
              <a:rPr sz="1600" dirty="0"/>
              <a:t>PROBLEM STATEMENT</a:t>
            </a:r>
          </a:p>
          <a:p>
            <a:pPr>
              <a:spcAft>
                <a:spcPts val="1600"/>
              </a:spcAft>
              <a:defRPr sz="1800" b="1">
                <a:solidFill>
                  <a:srgbClr val="FFFFFF"/>
                </a:solidFill>
                <a:latin typeface="Arial"/>
              </a:defRPr>
            </a:pPr>
            <a:r>
              <a:rPr lang="en-US" dirty="0"/>
              <a:t>Financial institutions manage complex balance sheets across diverse asset classes, tight liquidity requirements, and rapidly shifting market conditions. When markets become volatile, traditional manual rebalancing and static risk controls break down-leading to delayed execution, sub-optimal capital utilization, and unexpected exposure to risk.</a:t>
            </a:r>
          </a:p>
          <a:p>
            <a:pPr algn="l">
              <a:spcAft>
                <a:spcPts val="600"/>
              </a:spcAft>
              <a:defRPr sz="1200" b="1">
                <a:solidFill>
                  <a:srgbClr val="34D399"/>
                </a:solidFill>
                <a:latin typeface="Arial"/>
              </a:defRPr>
            </a:pPr>
            <a:r>
              <a:rPr lang="en-US" sz="1600" dirty="0"/>
              <a:t>TEAM NAME</a:t>
            </a:r>
          </a:p>
          <a:p>
            <a:pPr algn="l">
              <a:spcAft>
                <a:spcPts val="1600"/>
              </a:spcAft>
              <a:defRPr sz="1800" b="1">
                <a:solidFill>
                  <a:srgbClr val="FFFFFF"/>
                </a:solidFill>
                <a:latin typeface="Arial"/>
              </a:defRPr>
            </a:pPr>
            <a:r>
              <a:rPr lang="en-US" dirty="0"/>
              <a:t>Golden Dragon</a:t>
            </a:r>
            <a:endParaRPr dirty="0"/>
          </a:p>
          <a:p>
            <a:pPr algn="l">
              <a:spcAft>
                <a:spcPts val="600"/>
              </a:spcAft>
              <a:defRPr sz="1200" b="1">
                <a:solidFill>
                  <a:srgbClr val="FBBF24"/>
                </a:solidFill>
                <a:latin typeface="Arial"/>
              </a:defRPr>
            </a:pPr>
            <a:r>
              <a:rPr sz="1600" dirty="0"/>
              <a:t>IDEA TITLE</a:t>
            </a:r>
          </a:p>
          <a:p>
            <a:pPr algn="l">
              <a:spcAft>
                <a:spcPts val="1600"/>
              </a:spcAft>
              <a:defRPr sz="1800" b="1">
                <a:solidFill>
                  <a:srgbClr val="FFFFFF"/>
                </a:solidFill>
                <a:latin typeface="Arial"/>
              </a:defRPr>
            </a:pPr>
            <a:r>
              <a:rPr dirty="0" err="1"/>
              <a:t>FortressFi</a:t>
            </a:r>
            <a:r>
              <a:rPr dirty="0"/>
              <a:t> - Adaptive Risk-Guardrail</a:t>
            </a:r>
            <a:r>
              <a:rPr lang="en-US" dirty="0"/>
              <a:t> </a:t>
            </a:r>
            <a:r>
              <a:rPr dirty="0"/>
              <a:t>Portfolio Engine</a:t>
            </a:r>
          </a:p>
        </p:txBody>
      </p:sp>
      <p:sp>
        <p:nvSpPr>
          <p:cNvPr id="7" name="Rounded Rectangle 6"/>
          <p:cNvSpPr/>
          <p:nvPr/>
        </p:nvSpPr>
        <p:spPr>
          <a:xfrm>
            <a:off x="9478686" y="2476500"/>
            <a:ext cx="7799664" cy="53340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1200" b="1">
                <a:solidFill>
                  <a:srgbClr val="34D399"/>
                </a:solidFill>
                <a:latin typeface="Arial"/>
              </a:defRPr>
            </a:pPr>
            <a:r>
              <a:rPr sz="1600" dirty="0"/>
              <a:t>THE SIMPLE IDEA</a:t>
            </a:r>
          </a:p>
          <a:p>
            <a:pPr algn="l">
              <a:spcAft>
                <a:spcPts val="1800"/>
              </a:spcAft>
              <a:defRPr sz="2400" b="1">
                <a:solidFill>
                  <a:srgbClr val="FFFFFF"/>
                </a:solidFill>
                <a:latin typeface="Arial"/>
              </a:defRPr>
            </a:pPr>
            <a:r>
              <a:rPr sz="2800" u="sng" dirty="0"/>
              <a:t>Cruise Control for Your Investments</a:t>
            </a:r>
          </a:p>
          <a:p>
            <a:pPr marL="285750" indent="-285750" algn="l">
              <a:spcAft>
                <a:spcPts val="800"/>
              </a:spcAft>
              <a:buFont typeface="Arial" panose="020B0604020202020204" pitchFamily="34" charset="0"/>
              <a:buChar char="•"/>
              <a:defRPr sz="1400" b="0">
                <a:solidFill>
                  <a:srgbClr val="E2E8F0"/>
                </a:solidFill>
                <a:latin typeface="Arial"/>
              </a:defRPr>
            </a:pPr>
            <a:r>
              <a:rPr sz="1600" dirty="0"/>
              <a:t>Think of driving on a highway. Cruise control keeps your speed steady and saves fuel.</a:t>
            </a:r>
          </a:p>
          <a:p>
            <a:pPr marL="285750" indent="-285750" algn="l">
              <a:spcAft>
                <a:spcPts val="800"/>
              </a:spcAft>
              <a:buFont typeface="Arial" panose="020B0604020202020204" pitchFamily="34" charset="0"/>
              <a:buChar char="•"/>
              <a:defRPr sz="1400" b="0">
                <a:solidFill>
                  <a:srgbClr val="E2E8F0"/>
                </a:solidFill>
                <a:latin typeface="Arial"/>
              </a:defRPr>
            </a:pPr>
            <a:r>
              <a:rPr sz="1600" dirty="0"/>
              <a:t>If a car suddenly brakes in front of you, automatic emergency braking kicks in instantly.</a:t>
            </a:r>
          </a:p>
          <a:p>
            <a:pPr marL="285750" indent="-285750" algn="l">
              <a:spcAft>
                <a:spcPts val="800"/>
              </a:spcAft>
              <a:buFont typeface="Arial" panose="020B0604020202020204" pitchFamily="34" charset="0"/>
              <a:buChar char="•"/>
              <a:defRPr sz="1400" b="0">
                <a:solidFill>
                  <a:srgbClr val="E2E8F0"/>
                </a:solidFill>
                <a:latin typeface="Arial"/>
              </a:defRPr>
            </a:pPr>
            <a:r>
              <a:rPr sz="1600" dirty="0" err="1"/>
              <a:t>FortressFi</a:t>
            </a:r>
            <a:r>
              <a:rPr sz="1600" dirty="0"/>
              <a:t> does exactly this for investment portfolios. It steadily grows your money in calm markets.</a:t>
            </a:r>
          </a:p>
          <a:p>
            <a:pPr marL="285750" indent="-285750" algn="l">
              <a:spcAft>
                <a:spcPts val="800"/>
              </a:spcAft>
              <a:buFont typeface="Arial" panose="020B0604020202020204" pitchFamily="34" charset="0"/>
              <a:buChar char="•"/>
              <a:defRPr sz="1400" b="0">
                <a:solidFill>
                  <a:srgbClr val="E2E8F0"/>
                </a:solidFill>
                <a:latin typeface="Arial"/>
              </a:defRPr>
            </a:pPr>
            <a:r>
              <a:rPr lang="en-US" sz="1600" dirty="0"/>
              <a:t>T</a:t>
            </a:r>
            <a:r>
              <a:rPr sz="1600" dirty="0"/>
              <a:t>he SECOND a crash begins, it automatically moves capital to safety before losses pile up.</a:t>
            </a:r>
          </a:p>
        </p:txBody>
      </p:sp>
      <p:sp>
        <p:nvSpPr>
          <p:cNvPr id="8" name="Rounded Rectangle 7"/>
          <p:cNvSpPr/>
          <p:nvPr/>
        </p:nvSpPr>
        <p:spPr>
          <a:xfrm>
            <a:off x="1047750" y="8343900"/>
            <a:ext cx="16230599" cy="1143000"/>
          </a:xfrm>
          <a:prstGeom prst="roundRect">
            <a:avLst>
              <a:gd name="adj" fmla="val 39091"/>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0"/>
              </a:spcAft>
              <a:defRPr sz="1600" b="0">
                <a:solidFill>
                  <a:srgbClr val="94A3B8"/>
                </a:solidFill>
                <a:latin typeface="Arial"/>
              </a:defRPr>
            </a:pPr>
            <a:r>
              <a:rPr lang="en-US" sz="2400" dirty="0">
                <a:solidFill>
                  <a:schemeClr val="bg1"/>
                </a:solidFill>
              </a:rPr>
              <a:t>“</a:t>
            </a:r>
            <a:r>
              <a:rPr sz="2400" dirty="0">
                <a:solidFill>
                  <a:schemeClr val="bg1"/>
                </a:solidFill>
              </a:rPr>
              <a:t>Grows your money automatically in good times, and protects it automatically the moment markets turn bad.</a:t>
            </a:r>
            <a:r>
              <a:rPr lang="en-US" sz="2400" dirty="0">
                <a:solidFill>
                  <a:schemeClr val="bg1"/>
                </a:solidFill>
              </a:rPr>
              <a:t>"</a:t>
            </a:r>
            <a:endParaRPr sz="24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5023133" cy="1203325"/>
          </a:xfrm>
          <a:prstGeom prst="rect">
            <a:avLst/>
          </a:prstGeom>
        </p:spPr>
        <p:txBody>
          <a:bodyPr wrap="square" lIns="0" tIns="0" rIns="0" bIns="0" rtlCol="0" anchor="t">
            <a:spAutoFit/>
          </a:bodyPr>
          <a:lstStyle/>
          <a:p>
            <a:pPr algn="l">
              <a:lnSpc>
                <a:spcPts val="9349"/>
              </a:lnSpc>
            </a:pPr>
            <a:r>
              <a:rPr lang="en-US" sz="8499" b="1" spc="-212" dirty="0">
                <a:solidFill>
                  <a:srgbClr val="FFFFFF"/>
                </a:solidFill>
                <a:latin typeface="Antonio Bold"/>
                <a:ea typeface="Antonio Bold"/>
                <a:cs typeface="Antonio Bold"/>
                <a:sym typeface="Antonio Bold"/>
              </a:rPr>
              <a:t>THE SOLUTION</a:t>
            </a:r>
          </a:p>
        </p:txBody>
      </p:sp>
      <p:sp>
        <p:nvSpPr>
          <p:cNvPr id="5" name="Rounded Rectangle 4"/>
          <p:cNvSpPr/>
          <p:nvPr/>
        </p:nvSpPr>
        <p:spPr>
          <a:xfrm>
            <a:off x="6492240" y="1691641"/>
            <a:ext cx="10607040" cy="2011680"/>
          </a:xfrm>
          <a:prstGeom prst="roundRect">
            <a:avLst/>
          </a:prstGeom>
          <a:solidFill>
            <a:srgbClr val="141E32"/>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FBBF24"/>
                </a:solidFill>
                <a:latin typeface="Arial"/>
              </a:defRPr>
            </a:pPr>
            <a:r>
              <a:rPr sz="1600" dirty="0"/>
              <a:t>THE PROBLEM WE'RE SOLVING</a:t>
            </a:r>
          </a:p>
          <a:p>
            <a:pPr marL="285750" indent="-285750" algn="l">
              <a:spcAft>
                <a:spcPts val="0"/>
              </a:spcAft>
              <a:buFont typeface="Arial" panose="020B0604020202020204" pitchFamily="34" charset="0"/>
              <a:buChar char="•"/>
              <a:defRPr sz="1600" b="0">
                <a:solidFill>
                  <a:srgbClr val="E2E8F0"/>
                </a:solidFill>
                <a:latin typeface="Arial"/>
              </a:defRPr>
            </a:pPr>
            <a:r>
              <a:rPr dirty="0"/>
              <a:t>When markets crash, manual portfolio reviews take days. By then, losses are already locked in.</a:t>
            </a:r>
            <a:endParaRPr lang="en-US" dirty="0"/>
          </a:p>
          <a:p>
            <a:pPr marL="285750" indent="-285750" algn="l">
              <a:spcAft>
                <a:spcPts val="0"/>
              </a:spcAft>
              <a:buFont typeface="Arial" panose="020B0604020202020204" pitchFamily="34" charset="0"/>
              <a:buChar char="•"/>
              <a:defRPr sz="1600" b="0">
                <a:solidFill>
                  <a:srgbClr val="E2E8F0"/>
                </a:solidFill>
                <a:latin typeface="Arial"/>
              </a:defRPr>
            </a:pPr>
            <a:r>
              <a:rPr dirty="0"/>
              <a:t>Existing </a:t>
            </a:r>
            <a:r>
              <a:rPr dirty="0" err="1"/>
              <a:t>robo</a:t>
            </a:r>
            <a:r>
              <a:rPr dirty="0"/>
              <a:t>-advisors trade too frequently (burning fees) or use black-box models nobody trusts.</a:t>
            </a:r>
          </a:p>
        </p:txBody>
      </p:sp>
      <p:sp>
        <p:nvSpPr>
          <p:cNvPr id="6" name="Rounded Rectangle 5"/>
          <p:cNvSpPr/>
          <p:nvPr/>
        </p:nvSpPr>
        <p:spPr>
          <a:xfrm>
            <a:off x="1463040" y="4206240"/>
            <a:ext cx="5029200" cy="50292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38BDF8"/>
                </a:solidFill>
                <a:latin typeface="Arial"/>
              </a:defRPr>
            </a:pPr>
            <a:r>
              <a:rPr sz="1600" dirty="0"/>
              <a:t>ENGINE 1</a:t>
            </a:r>
          </a:p>
          <a:p>
            <a:pPr algn="l">
              <a:spcAft>
                <a:spcPts val="1200"/>
              </a:spcAft>
              <a:defRPr sz="2200" b="1">
                <a:solidFill>
                  <a:srgbClr val="FFFFFF"/>
                </a:solidFill>
                <a:latin typeface="Arial"/>
              </a:defRPr>
            </a:pPr>
            <a:r>
              <a:rPr sz="2800" u="sng" dirty="0"/>
              <a:t>The Smart Optimizer</a:t>
            </a:r>
          </a:p>
          <a:p>
            <a:pPr algn="l">
              <a:spcAft>
                <a:spcPts val="2400"/>
              </a:spcAft>
              <a:defRPr sz="1500" b="0">
                <a:solidFill>
                  <a:srgbClr val="E2E8F0"/>
                </a:solidFill>
                <a:latin typeface="Arial"/>
              </a:defRPr>
            </a:pPr>
            <a:r>
              <a:rPr sz="1600" dirty="0"/>
              <a:t>Finds the best way to spread your money across 6 asset classes (stocks, bonds, gold, cash, etc.).</a:t>
            </a:r>
          </a:p>
          <a:p>
            <a:pPr algn="l">
              <a:spcAft>
                <a:spcPts val="600"/>
              </a:spcAft>
              <a:defRPr sz="1300" b="1">
                <a:solidFill>
                  <a:srgbClr val="38BDF8"/>
                </a:solidFill>
                <a:latin typeface="Arial"/>
              </a:defRPr>
            </a:pPr>
            <a:r>
              <a:rPr sz="1600" dirty="0"/>
              <a:t>How it works: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Built on a Nobel Prize-winning investing formula, still used by real fund managers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Respects real limits (Cash &gt;= 5%, no single asset &gt; 45%)</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Only trades when drift is significant (saves fees!)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Adapts risk tolerance based on market conditions</a:t>
            </a:r>
          </a:p>
        </p:txBody>
      </p:sp>
      <p:sp>
        <p:nvSpPr>
          <p:cNvPr id="7" name="Rounded Rectangle 6"/>
          <p:cNvSpPr/>
          <p:nvPr/>
        </p:nvSpPr>
        <p:spPr>
          <a:xfrm>
            <a:off x="6766560" y="4206240"/>
            <a:ext cx="5029200"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34D399"/>
                </a:solidFill>
                <a:latin typeface="Arial"/>
              </a:defRPr>
            </a:pPr>
            <a:r>
              <a:rPr sz="1600" dirty="0"/>
              <a:t>ENGINE 2</a:t>
            </a:r>
          </a:p>
          <a:p>
            <a:pPr algn="l">
              <a:spcAft>
                <a:spcPts val="1200"/>
              </a:spcAft>
              <a:defRPr sz="2200" b="1">
                <a:solidFill>
                  <a:srgbClr val="FFFFFF"/>
                </a:solidFill>
                <a:latin typeface="Arial"/>
              </a:defRPr>
            </a:pPr>
            <a:r>
              <a:rPr sz="2800" u="sng" dirty="0"/>
              <a:t>The Safety Guardrails</a:t>
            </a:r>
          </a:p>
          <a:p>
            <a:pPr algn="l">
              <a:spcAft>
                <a:spcPts val="2400"/>
              </a:spcAft>
              <a:defRPr sz="1500" b="0">
                <a:solidFill>
                  <a:srgbClr val="E2E8F0"/>
                </a:solidFill>
                <a:latin typeface="Arial"/>
              </a:defRPr>
            </a:pPr>
            <a:r>
              <a:rPr sz="1600" dirty="0"/>
              <a:t>An independent watchdog that monitors tail risk every second and can OVERRIDE the optimizer.</a:t>
            </a:r>
          </a:p>
          <a:p>
            <a:pPr>
              <a:spcAft>
                <a:spcPts val="600"/>
              </a:spcAft>
              <a:defRPr sz="1300" b="1">
                <a:solidFill>
                  <a:srgbClr val="C084FC"/>
                </a:solidFill>
                <a:latin typeface="Arial"/>
              </a:defRPr>
            </a:pPr>
            <a:r>
              <a:rPr sz="1600" b="1" dirty="0">
                <a:solidFill>
                  <a:srgbClr val="C084FC"/>
                </a:solidFill>
                <a:latin typeface="Arial"/>
              </a:rPr>
              <a:t>4-tier graduated response:</a:t>
            </a:r>
          </a:p>
          <a:p>
            <a:pPr marL="285750" indent="-285750" algn="l">
              <a:spcAft>
                <a:spcPts val="500"/>
              </a:spcAft>
              <a:buFont typeface="Arial" panose="020B0604020202020204" pitchFamily="34" charset="0"/>
              <a:buChar char="•"/>
              <a:defRPr sz="1350" b="0">
                <a:solidFill>
                  <a:srgbClr val="34D399"/>
                </a:solidFill>
                <a:latin typeface="Arial"/>
              </a:defRPr>
            </a:pPr>
            <a:r>
              <a:rPr sz="1600" dirty="0"/>
              <a:t>[MONITOR]  All safe. Let returns compound.</a:t>
            </a:r>
          </a:p>
          <a:p>
            <a:pPr marL="285750" indent="-285750" algn="l">
              <a:spcAft>
                <a:spcPts val="500"/>
              </a:spcAft>
              <a:buFont typeface="Arial" panose="020B0604020202020204" pitchFamily="34" charset="0"/>
              <a:buChar char="•"/>
              <a:defRPr sz="1350" b="0">
                <a:solidFill>
                  <a:srgbClr val="FBBF24"/>
                </a:solidFill>
                <a:latin typeface="Arial"/>
              </a:defRPr>
            </a:pPr>
            <a:r>
              <a:rPr sz="1600" dirty="0"/>
              <a:t>[WARN]  Risk rising. Tighten sensitivity.</a:t>
            </a:r>
          </a:p>
          <a:p>
            <a:pPr marL="285750" indent="-285750" algn="l">
              <a:spcAft>
                <a:spcPts val="500"/>
              </a:spcAft>
              <a:buFont typeface="Arial" panose="020B0604020202020204" pitchFamily="34" charset="0"/>
              <a:buChar char="•"/>
              <a:defRPr sz="1350" b="0">
                <a:solidFill>
                  <a:srgbClr val="F87171"/>
                </a:solidFill>
                <a:latin typeface="Arial"/>
              </a:defRPr>
            </a:pPr>
            <a:r>
              <a:rPr sz="1600" dirty="0"/>
              <a:t>[ACT]  Limit breached. Auto-shift to cash.</a:t>
            </a:r>
          </a:p>
          <a:p>
            <a:pPr marL="285750" indent="-285750" algn="l">
              <a:spcAft>
                <a:spcPts val="500"/>
              </a:spcAft>
              <a:buFont typeface="Arial" panose="020B0604020202020204" pitchFamily="34" charset="0"/>
              <a:buChar char="•"/>
              <a:defRPr sz="1350" b="0">
                <a:solidFill>
                  <a:srgbClr val="FFFFFF"/>
                </a:solidFill>
                <a:latin typeface="Arial"/>
              </a:defRPr>
            </a:pPr>
            <a:r>
              <a:rPr sz="1600" dirty="0"/>
              <a:t>[CIRCUIT BREAK]  Crash! Emergency lockdown.</a:t>
            </a:r>
            <a:endParaRPr lang="en-US" sz="1600" dirty="0"/>
          </a:p>
          <a:p>
            <a:pPr marL="285750" indent="-285750" algn="l">
              <a:spcAft>
                <a:spcPts val="500"/>
              </a:spcAft>
              <a:buFont typeface="Arial" panose="020B0604020202020204" pitchFamily="34" charset="0"/>
              <a:buChar char="•"/>
              <a:defRPr sz="1350" b="0">
                <a:solidFill>
                  <a:srgbClr val="FFFFFF"/>
                </a:solidFill>
                <a:latin typeface="Arial"/>
              </a:defRPr>
            </a:pPr>
            <a:endParaRPr dirty="0"/>
          </a:p>
        </p:txBody>
      </p:sp>
      <p:sp>
        <p:nvSpPr>
          <p:cNvPr id="8" name="Rounded Rectangle 7"/>
          <p:cNvSpPr/>
          <p:nvPr/>
        </p:nvSpPr>
        <p:spPr>
          <a:xfrm>
            <a:off x="12070080" y="4206240"/>
            <a:ext cx="5208270" cy="502920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600"/>
              </a:spcAft>
              <a:defRPr sz="1200" b="1">
                <a:solidFill>
                  <a:srgbClr val="C084FC"/>
                </a:solidFill>
                <a:latin typeface="Arial"/>
              </a:defRPr>
            </a:pPr>
            <a:r>
              <a:rPr sz="1600" dirty="0"/>
              <a:t>ENGINE 3</a:t>
            </a:r>
          </a:p>
          <a:p>
            <a:pPr algn="l">
              <a:spcAft>
                <a:spcPts val="1200"/>
              </a:spcAft>
              <a:defRPr sz="2200" b="1">
                <a:solidFill>
                  <a:srgbClr val="FFFFFF"/>
                </a:solidFill>
                <a:latin typeface="Arial"/>
              </a:defRPr>
            </a:pPr>
            <a:r>
              <a:rPr sz="2800" u="sng" dirty="0"/>
              <a:t>The Transparency Layer</a:t>
            </a:r>
          </a:p>
          <a:p>
            <a:pPr algn="l">
              <a:spcAft>
                <a:spcPts val="2400"/>
              </a:spcAft>
              <a:defRPr sz="1500" b="0">
                <a:solidFill>
                  <a:srgbClr val="E2E8F0"/>
                </a:solidFill>
                <a:latin typeface="Arial"/>
              </a:defRPr>
            </a:pPr>
            <a:r>
              <a:rPr sz="1600" dirty="0"/>
              <a:t>Every automated decision is explained in plain English so risk managers actually trust the system.</a:t>
            </a:r>
          </a:p>
          <a:p>
            <a:pPr algn="l">
              <a:spcAft>
                <a:spcPts val="600"/>
              </a:spcAft>
              <a:defRPr sz="1300" b="1">
                <a:solidFill>
                  <a:srgbClr val="C084FC"/>
                </a:solidFill>
                <a:latin typeface="Arial"/>
              </a:defRPr>
            </a:pPr>
            <a:r>
              <a:rPr sz="1600" dirty="0"/>
              <a:t>What managers see:</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Live NAV chart with event markers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Asset allocation donut with drift meters</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Plain-English risk meters: worst likely loss, worst-case loss, biggest dip</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Plain-language decision audit trail</a:t>
            </a:r>
          </a:p>
          <a:p>
            <a:pPr marL="285750" indent="-285750" algn="l">
              <a:spcAft>
                <a:spcPts val="500"/>
              </a:spcAft>
              <a:buFont typeface="Arial" panose="020B0604020202020204" pitchFamily="34" charset="0"/>
              <a:buChar char="•"/>
              <a:defRPr sz="1350" b="0">
                <a:solidFill>
                  <a:srgbClr val="94A3B8"/>
                </a:solidFill>
                <a:latin typeface="Arial"/>
              </a:defRPr>
            </a:pPr>
            <a:r>
              <a:rPr sz="1600" dirty="0"/>
              <a:t>What-if scenario stress testing lab</a:t>
            </a:r>
          </a:p>
        </p:txBody>
      </p:sp>
      <p:cxnSp>
        <p:nvCxnSpPr>
          <p:cNvPr id="18" name="Straight Connector 17">
            <a:extLst>
              <a:ext uri="{FF2B5EF4-FFF2-40B4-BE49-F238E27FC236}">
                <a16:creationId xmlns:a16="http://schemas.microsoft.com/office/drawing/2014/main" id="{CA8C7A36-1A88-E70B-CAF9-9EBAF942D945}"/>
              </a:ext>
            </a:extLst>
          </p:cNvPr>
          <p:cNvCxnSpPr>
            <a:cxnSpLocks/>
            <a:stCxn id="6" idx="3"/>
            <a:endCxn id="7" idx="1"/>
          </p:cNvCxnSpPr>
          <p:nvPr/>
        </p:nvCxnSpPr>
        <p:spPr>
          <a:xfrm>
            <a:off x="6492240" y="6720840"/>
            <a:ext cx="2743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7A1DBC7-65D6-E549-9626-0F7BB2D69881}"/>
              </a:ext>
            </a:extLst>
          </p:cNvPr>
          <p:cNvCxnSpPr>
            <a:cxnSpLocks/>
            <a:stCxn id="7" idx="3"/>
            <a:endCxn id="8" idx="1"/>
          </p:cNvCxnSpPr>
          <p:nvPr/>
        </p:nvCxnSpPr>
        <p:spPr>
          <a:xfrm>
            <a:off x="11795760" y="6720840"/>
            <a:ext cx="27432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Arc 24">
            <a:extLst>
              <a:ext uri="{FF2B5EF4-FFF2-40B4-BE49-F238E27FC236}">
                <a16:creationId xmlns:a16="http://schemas.microsoft.com/office/drawing/2014/main" id="{C7FE7686-A4DE-F15A-7823-7D46C5E4EB7B}"/>
              </a:ext>
            </a:extLst>
          </p:cNvPr>
          <p:cNvSpPr/>
          <p:nvPr/>
        </p:nvSpPr>
        <p:spPr>
          <a:xfrm rot="16200000">
            <a:off x="4852785" y="1480934"/>
            <a:ext cx="3276600" cy="5420131"/>
          </a:xfrm>
          <a:prstGeom prst="arc">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2002D017-E893-3B68-0777-21B4772C50A3}"/>
              </a:ext>
            </a:extLst>
          </p:cNvPr>
          <p:cNvCxnSpPr>
            <a:cxnSpLocks/>
            <a:stCxn id="25" idx="0"/>
          </p:cNvCxnSpPr>
          <p:nvPr/>
        </p:nvCxnSpPr>
        <p:spPr>
          <a:xfrm flipH="1">
            <a:off x="3781019" y="4191000"/>
            <a:ext cx="1" cy="1239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UNDER THE HOOD</a:t>
            </a:r>
          </a:p>
        </p:txBody>
      </p:sp>
      <p:sp>
        <p:nvSpPr>
          <p:cNvPr id="5" name="Rounded Rectangle 4"/>
          <p:cNvSpPr/>
          <p:nvPr/>
        </p:nvSpPr>
        <p:spPr>
          <a:xfrm>
            <a:off x="1463039" y="1828800"/>
            <a:ext cx="3749039" cy="146304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8BDF8"/>
                </a:solidFill>
                <a:latin typeface="Arial"/>
              </a:defRPr>
            </a:pPr>
            <a:r>
              <a:t>11.4 ms</a:t>
            </a:r>
          </a:p>
          <a:p>
            <a:pPr algn="ctr">
              <a:spcAft>
                <a:spcPts val="0"/>
              </a:spcAft>
              <a:defRPr sz="1300" b="0">
                <a:solidFill>
                  <a:srgbClr val="94A3B8"/>
                </a:solidFill>
                <a:latin typeface="Arial"/>
              </a:defRPr>
            </a:pPr>
            <a:r>
              <a:t>Optimization Speed</a:t>
            </a:r>
          </a:p>
        </p:txBody>
      </p:sp>
      <p:sp>
        <p:nvSpPr>
          <p:cNvPr id="6" name="Rounded Rectangle 5"/>
          <p:cNvSpPr/>
          <p:nvPr/>
        </p:nvSpPr>
        <p:spPr>
          <a:xfrm>
            <a:off x="5440679" y="1828800"/>
            <a:ext cx="3909061" cy="146304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4D399"/>
                </a:solidFill>
                <a:latin typeface="Arial"/>
              </a:defRPr>
            </a:pPr>
            <a:r>
              <a:rPr dirty="0"/>
              <a:t>&lt; 2 </a:t>
            </a:r>
            <a:r>
              <a:rPr dirty="0" err="1"/>
              <a:t>ms</a:t>
            </a:r>
            <a:endParaRPr dirty="0"/>
          </a:p>
          <a:p>
            <a:pPr algn="ctr">
              <a:spcAft>
                <a:spcPts val="0"/>
              </a:spcAft>
              <a:defRPr sz="1300" b="0">
                <a:solidFill>
                  <a:srgbClr val="94A3B8"/>
                </a:solidFill>
                <a:latin typeface="Arial"/>
              </a:defRPr>
            </a:pPr>
            <a:r>
              <a:rPr dirty="0"/>
              <a:t>Risk Check Speed</a:t>
            </a:r>
          </a:p>
        </p:txBody>
      </p:sp>
      <p:sp>
        <p:nvSpPr>
          <p:cNvPr id="7" name="Rounded Rectangle 6"/>
          <p:cNvSpPr/>
          <p:nvPr/>
        </p:nvSpPr>
        <p:spPr>
          <a:xfrm>
            <a:off x="9509760" y="1828800"/>
            <a:ext cx="3657600" cy="146304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C084FC"/>
                </a:solidFill>
                <a:latin typeface="Arial"/>
              </a:defRPr>
            </a:pPr>
            <a:r>
              <a:t>40 / 40</a:t>
            </a:r>
          </a:p>
          <a:p>
            <a:pPr algn="ctr">
              <a:spcAft>
                <a:spcPts val="0"/>
              </a:spcAft>
              <a:defRPr sz="1300" b="0">
                <a:solidFill>
                  <a:srgbClr val="94A3B8"/>
                </a:solidFill>
                <a:latin typeface="Arial"/>
              </a:defRPr>
            </a:pPr>
            <a:r>
              <a:t>Tests Passing</a:t>
            </a:r>
          </a:p>
        </p:txBody>
      </p:sp>
      <p:sp>
        <p:nvSpPr>
          <p:cNvPr id="8" name="Rounded Rectangle 7"/>
          <p:cNvSpPr/>
          <p:nvPr/>
        </p:nvSpPr>
        <p:spPr>
          <a:xfrm>
            <a:off x="13395960" y="1828800"/>
            <a:ext cx="3657600" cy="146304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FBBF24"/>
                </a:solidFill>
                <a:latin typeface="Arial"/>
              </a:defRPr>
            </a:pPr>
            <a:r>
              <a:t>0.25s</a:t>
            </a:r>
          </a:p>
          <a:p>
            <a:pPr algn="ctr">
              <a:spcAft>
                <a:spcPts val="0"/>
              </a:spcAft>
              <a:defRPr sz="1300" b="0">
                <a:solidFill>
                  <a:srgbClr val="94A3B8"/>
                </a:solidFill>
                <a:latin typeface="Arial"/>
              </a:defRPr>
            </a:pPr>
            <a:r>
              <a:t>Full Test Suite</a:t>
            </a:r>
          </a:p>
        </p:txBody>
      </p:sp>
      <p:sp>
        <p:nvSpPr>
          <p:cNvPr id="9" name="Rounded Rectangle 8"/>
          <p:cNvSpPr/>
          <p:nvPr/>
        </p:nvSpPr>
        <p:spPr>
          <a:xfrm>
            <a:off x="1463039" y="3657600"/>
            <a:ext cx="7886702" cy="58293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8BDF8"/>
                </a:solidFill>
                <a:latin typeface="Arial"/>
              </a:defRPr>
            </a:pPr>
            <a:r>
              <a:rPr sz="1600" dirty="0"/>
              <a:t>THE MATH (SIMPLIFIED)</a:t>
            </a:r>
          </a:p>
          <a:p>
            <a:pPr algn="l">
              <a:spcAft>
                <a:spcPts val="1800"/>
              </a:spcAft>
              <a:defRPr sz="2200" b="1">
                <a:solidFill>
                  <a:srgbClr val="FFFFFF"/>
                </a:solidFill>
                <a:latin typeface="Arial"/>
              </a:defRPr>
            </a:pPr>
            <a:r>
              <a:rPr sz="2800" u="sng" dirty="0"/>
              <a:t>How We Optimize Capital Allocation</a:t>
            </a:r>
          </a:p>
          <a:p>
            <a:pPr algn="l">
              <a:spcAft>
                <a:spcPts val="1000"/>
              </a:spcAft>
              <a:defRPr sz="1500" b="0">
                <a:solidFill>
                  <a:srgbClr val="E2E8F0"/>
                </a:solidFill>
                <a:latin typeface="Arial"/>
              </a:defRPr>
            </a:pPr>
            <a:r>
              <a:rPr dirty="0"/>
              <a:t>Goal: Maximize returns while minimizing risk and trading costs.</a:t>
            </a:r>
          </a:p>
          <a:p>
            <a:pPr algn="l">
              <a:spcAft>
                <a:spcPts val="200"/>
              </a:spcAft>
              <a:defRPr sz="1400" b="1">
                <a:solidFill>
                  <a:srgbClr val="38BDF8"/>
                </a:solidFill>
                <a:latin typeface="Arial"/>
              </a:defRPr>
            </a:pPr>
            <a:r>
              <a:rPr sz="1600" dirty="0"/>
              <a:t>Objective:</a:t>
            </a:r>
          </a:p>
          <a:p>
            <a:pPr algn="l">
              <a:spcAft>
                <a:spcPts val="800"/>
              </a:spcAft>
              <a:defRPr sz="1350" b="0">
                <a:solidFill>
                  <a:srgbClr val="94A3B8"/>
                </a:solidFill>
                <a:latin typeface="Arial"/>
              </a:defRPr>
            </a:pPr>
            <a:r>
              <a:rPr sz="1600" dirty="0"/>
              <a:t>Maximize  [Expected Return - Risk Penalty - Trading Cost]</a:t>
            </a:r>
          </a:p>
          <a:p>
            <a:pPr>
              <a:spcAft>
                <a:spcPts val="200"/>
              </a:spcAft>
              <a:defRPr sz="1400" b="1">
                <a:solidFill>
                  <a:srgbClr val="38BDF8"/>
                </a:solidFill>
                <a:latin typeface="Arial"/>
              </a:defRPr>
            </a:pPr>
            <a:r>
              <a:rPr sz="1600" b="1" dirty="0">
                <a:solidFill>
                  <a:srgbClr val="38BDF8"/>
                </a:solidFill>
                <a:latin typeface="Arial"/>
              </a:rPr>
              <a:t>Constraints:</a:t>
            </a:r>
          </a:p>
          <a:p>
            <a:pPr>
              <a:spcAft>
                <a:spcPts val="800"/>
              </a:spcAft>
              <a:defRPr sz="1350" b="0">
                <a:solidFill>
                  <a:srgbClr val="94A3B8"/>
                </a:solidFill>
                <a:latin typeface="Arial"/>
              </a:defRPr>
            </a:pPr>
            <a:r>
              <a:rPr sz="1600" dirty="0">
                <a:solidFill>
                  <a:srgbClr val="94A3B8"/>
                </a:solidFill>
                <a:latin typeface="Arial"/>
              </a:rPr>
              <a:t>All money invested  |  Cash &gt;= 5%  |  No asset &gt; 45%  |  Turnover &lt;= 40%</a:t>
            </a:r>
          </a:p>
          <a:p>
            <a:pPr>
              <a:spcAft>
                <a:spcPts val="200"/>
              </a:spcAft>
              <a:defRPr sz="1400" b="1">
                <a:solidFill>
                  <a:srgbClr val="38BDF8"/>
                </a:solidFill>
                <a:latin typeface="Arial"/>
              </a:defRPr>
            </a:pPr>
            <a:r>
              <a:rPr sz="1600" b="1" dirty="0">
                <a:solidFill>
                  <a:srgbClr val="38BDF8"/>
                </a:solidFill>
                <a:latin typeface="Arial"/>
              </a:rPr>
              <a:t>Solver:</a:t>
            </a:r>
          </a:p>
          <a:p>
            <a:pPr>
              <a:spcAft>
                <a:spcPts val="800"/>
              </a:spcAft>
              <a:defRPr sz="1350" b="0">
                <a:solidFill>
                  <a:srgbClr val="94A3B8"/>
                </a:solidFill>
                <a:latin typeface="Arial"/>
              </a:defRPr>
            </a:pPr>
            <a:r>
              <a:rPr sz="1600" dirty="0">
                <a:solidFill>
                  <a:srgbClr val="94A3B8"/>
                </a:solidFill>
                <a:latin typeface="Arial"/>
              </a:rPr>
              <a:t>A fast, precise optimization algorithm that always finds the best mix in milliseconds</a:t>
            </a:r>
          </a:p>
          <a:p>
            <a:pPr>
              <a:spcAft>
                <a:spcPts val="200"/>
              </a:spcAft>
              <a:defRPr sz="1400" b="1">
                <a:solidFill>
                  <a:srgbClr val="38BDF8"/>
                </a:solidFill>
                <a:latin typeface="Arial"/>
              </a:defRPr>
            </a:pPr>
            <a:r>
              <a:rPr sz="1600" b="1" dirty="0">
                <a:solidFill>
                  <a:srgbClr val="38BDF8"/>
                </a:solidFill>
                <a:latin typeface="Arial"/>
              </a:rPr>
              <a:t>Risk Check:</a:t>
            </a:r>
          </a:p>
          <a:p>
            <a:pPr>
              <a:spcAft>
                <a:spcPts val="800"/>
              </a:spcAft>
              <a:defRPr sz="1350" b="0">
                <a:solidFill>
                  <a:srgbClr val="94A3B8"/>
                </a:solidFill>
                <a:latin typeface="Arial"/>
              </a:defRPr>
            </a:pPr>
            <a:r>
              <a:rPr sz="1600" dirty="0">
                <a:solidFill>
                  <a:srgbClr val="94A3B8"/>
                </a:solidFill>
                <a:latin typeface="Arial"/>
              </a:rPr>
              <a:t>Worst-case loss estimate, built from the last 60 days of real market behavior</a:t>
            </a:r>
          </a:p>
          <a:p>
            <a:pPr>
              <a:spcAft>
                <a:spcPts val="200"/>
              </a:spcAft>
              <a:defRPr sz="1400" b="1">
                <a:solidFill>
                  <a:srgbClr val="38BDF8"/>
                </a:solidFill>
                <a:latin typeface="Arial"/>
              </a:defRPr>
            </a:pPr>
            <a:r>
              <a:rPr sz="1600" b="1" dirty="0">
                <a:solidFill>
                  <a:srgbClr val="38BDF8"/>
                </a:solidFill>
                <a:latin typeface="Arial"/>
              </a:rPr>
              <a:t>Smart Trigger:</a:t>
            </a:r>
          </a:p>
          <a:p>
            <a:pPr>
              <a:spcAft>
                <a:spcPts val="800"/>
              </a:spcAft>
              <a:defRPr sz="1350" b="0">
                <a:solidFill>
                  <a:srgbClr val="94A3B8"/>
                </a:solidFill>
                <a:latin typeface="Arial"/>
              </a:defRPr>
            </a:pPr>
            <a:r>
              <a:rPr sz="1600" dirty="0">
                <a:solidFill>
                  <a:srgbClr val="94A3B8"/>
                </a:solidFill>
                <a:latin typeface="Arial"/>
              </a:rPr>
              <a:t>Only rebalances when drift exceeds threshold (5% calm, 2% crisis)</a:t>
            </a:r>
          </a:p>
        </p:txBody>
      </p:sp>
      <p:sp>
        <p:nvSpPr>
          <p:cNvPr id="10" name="Rounded Rectangle 9"/>
          <p:cNvSpPr/>
          <p:nvPr/>
        </p:nvSpPr>
        <p:spPr>
          <a:xfrm>
            <a:off x="9509760" y="3657600"/>
            <a:ext cx="7543800" cy="58293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4D399"/>
                </a:solidFill>
                <a:latin typeface="Arial"/>
              </a:defRPr>
            </a:pPr>
            <a:r>
              <a:rPr sz="1600" dirty="0"/>
              <a:t>TECH STACK &amp; ARCHITECTURE</a:t>
            </a:r>
          </a:p>
          <a:p>
            <a:pPr>
              <a:spcAft>
                <a:spcPts val="1800"/>
              </a:spcAft>
              <a:defRPr sz="2200" b="1">
                <a:solidFill>
                  <a:srgbClr val="FFFFFF"/>
                </a:solidFill>
                <a:latin typeface="Arial"/>
              </a:defRPr>
            </a:pPr>
            <a:r>
              <a:rPr sz="2800" b="1" u="sng" dirty="0">
                <a:solidFill>
                  <a:srgbClr val="FFFFFF"/>
                </a:solidFill>
                <a:latin typeface="Arial"/>
              </a:rPr>
              <a:t>Built for Speed and Reliability</a:t>
            </a:r>
          </a:p>
          <a:p>
            <a:pPr algn="l">
              <a:spcAft>
                <a:spcPts val="1000"/>
              </a:spcAft>
              <a:defRPr sz="1500" b="0">
                <a:solidFill>
                  <a:srgbClr val="E2E8F0"/>
                </a:solidFill>
                <a:latin typeface="Arial"/>
              </a:defRPr>
            </a:pPr>
            <a:r>
              <a:rPr dirty="0"/>
              <a:t>Everything runs locally with zero external API dependencies.</a:t>
            </a:r>
          </a:p>
          <a:p>
            <a:pPr algn="l">
              <a:spcAft>
                <a:spcPts val="200"/>
              </a:spcAft>
              <a:defRPr sz="1400" b="1">
                <a:solidFill>
                  <a:srgbClr val="34D399"/>
                </a:solidFill>
                <a:latin typeface="Arial"/>
              </a:defRPr>
            </a:pPr>
            <a:r>
              <a:rPr sz="1600" dirty="0"/>
              <a:t>Backend:</a:t>
            </a:r>
          </a:p>
          <a:p>
            <a:pPr>
              <a:spcAft>
                <a:spcPts val="800"/>
              </a:spcAft>
              <a:defRPr sz="1350" b="0">
                <a:solidFill>
                  <a:srgbClr val="94A3B8"/>
                </a:solidFill>
                <a:latin typeface="Arial"/>
              </a:defRPr>
            </a:pPr>
            <a:r>
              <a:rPr sz="1600" dirty="0">
                <a:solidFill>
                  <a:srgbClr val="94A3B8"/>
                </a:solidFill>
                <a:latin typeface="Arial"/>
              </a:rPr>
              <a:t>Python 3.14 + </a:t>
            </a:r>
            <a:r>
              <a:rPr sz="1600" dirty="0" err="1">
                <a:solidFill>
                  <a:srgbClr val="94A3B8"/>
                </a:solidFill>
                <a:latin typeface="Arial"/>
              </a:rPr>
              <a:t>FastAPI</a:t>
            </a:r>
            <a:r>
              <a:rPr sz="1600" dirty="0">
                <a:solidFill>
                  <a:srgbClr val="94A3B8"/>
                </a:solidFill>
                <a:latin typeface="Arial"/>
              </a:rPr>
              <a:t> (async event loop)</a:t>
            </a:r>
          </a:p>
          <a:p>
            <a:pPr algn="l">
              <a:spcAft>
                <a:spcPts val="200"/>
              </a:spcAft>
              <a:defRPr sz="1400" b="1">
                <a:solidFill>
                  <a:srgbClr val="34D399"/>
                </a:solidFill>
                <a:latin typeface="Arial"/>
              </a:defRPr>
            </a:pPr>
            <a:r>
              <a:rPr sz="1600" dirty="0"/>
              <a:t>Math Engine:</a:t>
            </a:r>
          </a:p>
          <a:p>
            <a:pPr>
              <a:spcAft>
                <a:spcPts val="800"/>
              </a:spcAft>
              <a:defRPr sz="1350" b="0">
                <a:solidFill>
                  <a:srgbClr val="94A3B8"/>
                </a:solidFill>
                <a:latin typeface="Arial"/>
              </a:defRPr>
            </a:pPr>
            <a:r>
              <a:rPr sz="1600" dirty="0">
                <a:solidFill>
                  <a:srgbClr val="94A3B8"/>
                </a:solidFill>
                <a:latin typeface="Arial"/>
              </a:rPr>
              <a:t>NumPy + SciPy (vectorized computations)</a:t>
            </a:r>
          </a:p>
          <a:p>
            <a:pPr>
              <a:spcAft>
                <a:spcPts val="200"/>
              </a:spcAft>
              <a:defRPr sz="1400" b="1">
                <a:solidFill>
                  <a:srgbClr val="34D399"/>
                </a:solidFill>
                <a:latin typeface="Arial"/>
              </a:defRPr>
            </a:pPr>
            <a:r>
              <a:rPr sz="1600" b="1" dirty="0">
                <a:solidFill>
                  <a:srgbClr val="34D399"/>
                </a:solidFill>
                <a:latin typeface="Arial"/>
              </a:rPr>
              <a:t>Market Sim:</a:t>
            </a:r>
          </a:p>
          <a:p>
            <a:pPr>
              <a:spcAft>
                <a:spcPts val="800"/>
              </a:spcAft>
              <a:defRPr sz="1350" b="0">
                <a:solidFill>
                  <a:srgbClr val="94A3B8"/>
                </a:solidFill>
                <a:latin typeface="Arial"/>
              </a:defRPr>
            </a:pPr>
            <a:r>
              <a:rPr sz="1600" dirty="0">
                <a:solidFill>
                  <a:srgbClr val="94A3B8"/>
                </a:solidFill>
                <a:latin typeface="Arial"/>
              </a:rPr>
              <a:t>Realistic simulator that mimics how real assets move together</a:t>
            </a:r>
          </a:p>
          <a:p>
            <a:pPr>
              <a:spcAft>
                <a:spcPts val="200"/>
              </a:spcAft>
              <a:defRPr sz="1400" b="1">
                <a:solidFill>
                  <a:srgbClr val="34D399"/>
                </a:solidFill>
                <a:latin typeface="Arial"/>
              </a:defRPr>
            </a:pPr>
            <a:r>
              <a:rPr sz="1600" b="1" dirty="0">
                <a:solidFill>
                  <a:srgbClr val="34D399"/>
                </a:solidFill>
                <a:latin typeface="Arial"/>
              </a:rPr>
              <a:t>Real-Time:</a:t>
            </a:r>
          </a:p>
          <a:p>
            <a:pPr>
              <a:spcAft>
                <a:spcPts val="800"/>
              </a:spcAft>
              <a:defRPr sz="1350" b="0">
                <a:solidFill>
                  <a:srgbClr val="94A3B8"/>
                </a:solidFill>
                <a:latin typeface="Arial"/>
              </a:defRPr>
            </a:pPr>
            <a:r>
              <a:rPr sz="1600" dirty="0">
                <a:solidFill>
                  <a:srgbClr val="94A3B8"/>
                </a:solidFill>
                <a:latin typeface="Arial"/>
              </a:rPr>
              <a:t>WebSocket streaming every 1.5 seconds</a:t>
            </a:r>
          </a:p>
          <a:p>
            <a:pPr>
              <a:spcAft>
                <a:spcPts val="200"/>
              </a:spcAft>
              <a:defRPr sz="1400" b="1">
                <a:solidFill>
                  <a:srgbClr val="34D399"/>
                </a:solidFill>
                <a:latin typeface="Arial"/>
              </a:defRPr>
            </a:pPr>
            <a:r>
              <a:rPr sz="1600" b="1" dirty="0">
                <a:solidFill>
                  <a:srgbClr val="34D399"/>
                </a:solidFill>
                <a:latin typeface="Arial"/>
              </a:rPr>
              <a:t>Frontend:</a:t>
            </a:r>
          </a:p>
          <a:p>
            <a:pPr>
              <a:spcAft>
                <a:spcPts val="800"/>
              </a:spcAft>
              <a:defRPr sz="1350" b="0">
                <a:solidFill>
                  <a:srgbClr val="94A3B8"/>
                </a:solidFill>
                <a:latin typeface="Arial"/>
              </a:defRPr>
            </a:pPr>
            <a:r>
              <a:rPr sz="1600" dirty="0">
                <a:solidFill>
                  <a:srgbClr val="94A3B8"/>
                </a:solidFill>
                <a:latin typeface="Arial"/>
              </a:rPr>
              <a:t>Vanilla HTML/CSS/JS + Chart.js (zero build step)</a:t>
            </a:r>
          </a:p>
          <a:p>
            <a:pPr>
              <a:spcAft>
                <a:spcPts val="200"/>
              </a:spcAft>
              <a:defRPr sz="1400" b="1">
                <a:solidFill>
                  <a:srgbClr val="34D399"/>
                </a:solidFill>
                <a:latin typeface="Arial"/>
              </a:defRPr>
            </a:pPr>
            <a:r>
              <a:rPr sz="1600" b="1" dirty="0">
                <a:solidFill>
                  <a:srgbClr val="34D399"/>
                </a:solidFill>
                <a:latin typeface="Arial"/>
              </a:rPr>
              <a:t>Testing:</a:t>
            </a:r>
          </a:p>
          <a:p>
            <a:pPr>
              <a:spcAft>
                <a:spcPts val="800"/>
              </a:spcAft>
              <a:defRPr sz="1350" b="0">
                <a:solidFill>
                  <a:srgbClr val="94A3B8"/>
                </a:solidFill>
                <a:latin typeface="Arial"/>
              </a:defRPr>
            </a:pPr>
            <a:r>
              <a:rPr sz="1600" dirty="0">
                <a:solidFill>
                  <a:srgbClr val="94A3B8"/>
                </a:solidFill>
                <a:latin typeface="Arial"/>
              </a:rPr>
              <a:t>40 automated tests covering math, risk logic, and API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6136995"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HOW IT WORKS</a:t>
            </a:r>
          </a:p>
        </p:txBody>
      </p:sp>
      <p:sp>
        <p:nvSpPr>
          <p:cNvPr id="5" name="Rounded Rectangle 4"/>
          <p:cNvSpPr/>
          <p:nvPr/>
        </p:nvSpPr>
        <p:spPr>
          <a:xfrm>
            <a:off x="1463040" y="1828800"/>
            <a:ext cx="3623310" cy="50292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38BDF8"/>
                </a:solidFill>
                <a:latin typeface="Arial"/>
              </a:defRPr>
            </a:pPr>
            <a:r>
              <a:rPr dirty="0"/>
              <a:t>01</a:t>
            </a:r>
          </a:p>
          <a:p>
            <a:pPr algn="l">
              <a:spcAft>
                <a:spcPts val="1800"/>
              </a:spcAft>
              <a:defRPr sz="1800" b="1">
                <a:solidFill>
                  <a:srgbClr val="FFFFFF"/>
                </a:solidFill>
                <a:latin typeface="Arial"/>
              </a:defRPr>
            </a:pPr>
            <a:r>
              <a:rPr u="sng" dirty="0"/>
              <a:t>MARKET DATA IN</a:t>
            </a:r>
          </a:p>
          <a:p>
            <a:pPr>
              <a:spcAft>
                <a:spcPts val="1200"/>
              </a:spcAft>
              <a:defRPr sz="1400" b="0">
                <a:solidFill>
                  <a:srgbClr val="E2E8F0"/>
                </a:solidFill>
                <a:latin typeface="Arial"/>
              </a:defRPr>
            </a:pPr>
            <a:r>
              <a:rPr sz="1600" dirty="0">
                <a:solidFill>
                  <a:srgbClr val="E2E8F0"/>
                </a:solidFill>
                <a:latin typeface="Arial"/>
              </a:rPr>
              <a:t>Every 1.5 seconds, correlated prices stream in across all 6 asset classes. Portfolio value updates instantly.</a:t>
            </a:r>
          </a:p>
        </p:txBody>
      </p:sp>
      <p:sp>
        <p:nvSpPr>
          <p:cNvPr id="6" name="Rounded Rectangle 5"/>
          <p:cNvSpPr/>
          <p:nvPr/>
        </p:nvSpPr>
        <p:spPr>
          <a:xfrm>
            <a:off x="5333238" y="1828800"/>
            <a:ext cx="3966210" cy="502920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FBBF24"/>
                </a:solidFill>
                <a:latin typeface="Arial"/>
              </a:defRPr>
            </a:pPr>
            <a:r>
              <a:rPr dirty="0"/>
              <a:t>02</a:t>
            </a:r>
          </a:p>
          <a:p>
            <a:pPr algn="l">
              <a:spcAft>
                <a:spcPts val="1800"/>
              </a:spcAft>
              <a:defRPr sz="1800" b="1">
                <a:solidFill>
                  <a:srgbClr val="FFFFFF"/>
                </a:solidFill>
                <a:latin typeface="Arial"/>
              </a:defRPr>
            </a:pPr>
            <a:r>
              <a:rPr u="sng" dirty="0"/>
              <a:t>RISK HEALTH CHECK</a:t>
            </a:r>
          </a:p>
          <a:p>
            <a:pPr algn="l">
              <a:spcAft>
                <a:spcPts val="1200"/>
              </a:spcAft>
              <a:defRPr sz="1400" b="0">
                <a:solidFill>
                  <a:srgbClr val="E2E8F0"/>
                </a:solidFill>
                <a:latin typeface="Arial"/>
              </a:defRPr>
            </a:pPr>
            <a:r>
              <a:rPr sz="1600" dirty="0"/>
              <a:t>Engine checks four vital signs every second: possible loss, worst-case loss, biggest dip, and how spread out the money is.</a:t>
            </a:r>
          </a:p>
        </p:txBody>
      </p:sp>
      <p:sp>
        <p:nvSpPr>
          <p:cNvPr id="7" name="Rounded Rectangle 6"/>
          <p:cNvSpPr/>
          <p:nvPr/>
        </p:nvSpPr>
        <p:spPr>
          <a:xfrm>
            <a:off x="9546336" y="1828800"/>
            <a:ext cx="3922014" cy="5029200"/>
          </a:xfrm>
          <a:prstGeom prst="roundRect">
            <a:avLst/>
          </a:prstGeom>
          <a:solidFill>
            <a:srgbClr val="1E293B"/>
          </a:solidFill>
          <a:ln w="19050">
            <a:solidFill>
              <a:srgbClr val="F87171"/>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F87171"/>
                </a:solidFill>
                <a:latin typeface="Arial"/>
              </a:defRPr>
            </a:pPr>
            <a:r>
              <a:rPr dirty="0"/>
              <a:t>03</a:t>
            </a:r>
          </a:p>
          <a:p>
            <a:pPr algn="l">
              <a:spcAft>
                <a:spcPts val="1800"/>
              </a:spcAft>
              <a:defRPr sz="1800" b="1">
                <a:solidFill>
                  <a:srgbClr val="FFFFFF"/>
                </a:solidFill>
                <a:latin typeface="Arial"/>
              </a:defRPr>
            </a:pPr>
            <a:r>
              <a:rPr u="sng" dirty="0"/>
              <a:t>SMART DECISION</a:t>
            </a:r>
          </a:p>
          <a:p>
            <a:pPr>
              <a:spcAft>
                <a:spcPts val="1200"/>
              </a:spcAft>
              <a:defRPr sz="1400" b="0">
                <a:solidFill>
                  <a:srgbClr val="E2E8F0"/>
                </a:solidFill>
                <a:latin typeface="Arial"/>
              </a:defRPr>
            </a:pPr>
            <a:r>
              <a:rPr sz="1600" dirty="0">
                <a:solidFill>
                  <a:srgbClr val="E2E8F0"/>
                </a:solidFill>
                <a:latin typeface="Arial"/>
              </a:rPr>
              <a:t>If limits are safe: checks drift and rebalances only when needed.</a:t>
            </a:r>
            <a:br>
              <a:rPr sz="1600" dirty="0">
                <a:solidFill>
                  <a:srgbClr val="E2E8F0"/>
                </a:solidFill>
                <a:latin typeface="Arial"/>
              </a:rPr>
            </a:br>
            <a:r>
              <a:rPr sz="1600" dirty="0">
                <a:solidFill>
                  <a:srgbClr val="E2E8F0"/>
                </a:solidFill>
                <a:latin typeface="Arial"/>
              </a:rPr>
              <a:t>If limits breached: immediate protective action.</a:t>
            </a:r>
          </a:p>
        </p:txBody>
      </p:sp>
      <p:sp>
        <p:nvSpPr>
          <p:cNvPr id="8" name="Rounded Rectangle 7"/>
          <p:cNvSpPr/>
          <p:nvPr/>
        </p:nvSpPr>
        <p:spPr>
          <a:xfrm>
            <a:off x="13715238" y="1828800"/>
            <a:ext cx="3667506"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320040" rIns="274320" bIns="182880" rtlCol="0" anchor="ctr"/>
          <a:lstStyle/>
          <a:p>
            <a:pPr algn="l">
              <a:spcAft>
                <a:spcPts val="600"/>
              </a:spcAft>
              <a:defRPr sz="4000" b="1">
                <a:solidFill>
                  <a:srgbClr val="34D399"/>
                </a:solidFill>
                <a:latin typeface="Arial"/>
              </a:defRPr>
            </a:pPr>
            <a:r>
              <a:rPr dirty="0"/>
              <a:t>04</a:t>
            </a:r>
          </a:p>
          <a:p>
            <a:pPr algn="l">
              <a:spcAft>
                <a:spcPts val="1800"/>
              </a:spcAft>
              <a:defRPr sz="1800" b="1">
                <a:solidFill>
                  <a:srgbClr val="FFFFFF"/>
                </a:solidFill>
                <a:latin typeface="Arial"/>
              </a:defRPr>
            </a:pPr>
            <a:r>
              <a:rPr u="sng" dirty="0"/>
              <a:t>EXPLAIN &amp; DISPLAY</a:t>
            </a:r>
          </a:p>
          <a:p>
            <a:pPr>
              <a:spcAft>
                <a:spcPts val="1200"/>
              </a:spcAft>
              <a:defRPr sz="1400" b="0">
                <a:solidFill>
                  <a:srgbClr val="E2E8F0"/>
                </a:solidFill>
                <a:latin typeface="Arial"/>
              </a:defRPr>
            </a:pPr>
            <a:r>
              <a:rPr sz="1600" dirty="0">
                <a:solidFill>
                  <a:srgbClr val="E2E8F0"/>
                </a:solidFill>
                <a:latin typeface="Arial"/>
              </a:rPr>
              <a:t>Every action is logged in plain English. Live dashboard streams charts, gauges, and alerts to the risk manager.</a:t>
            </a:r>
          </a:p>
        </p:txBody>
      </p:sp>
      <p:sp>
        <p:nvSpPr>
          <p:cNvPr id="9" name="Rounded Rectangle 8"/>
          <p:cNvSpPr/>
          <p:nvPr/>
        </p:nvSpPr>
        <p:spPr>
          <a:xfrm>
            <a:off x="1463040" y="7132320"/>
            <a:ext cx="15910559" cy="256032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800"/>
              </a:spcAft>
              <a:defRPr sz="1200" b="1">
                <a:solidFill>
                  <a:srgbClr val="C084FC"/>
                </a:solidFill>
                <a:latin typeface="Arial"/>
              </a:defRPr>
            </a:pPr>
            <a:r>
              <a:rPr sz="2800" dirty="0"/>
              <a:t>FROM THE RISK MANAGER'S PERSPECTIVE</a:t>
            </a:r>
            <a:endParaRPr lang="en-US" sz="2800" dirty="0"/>
          </a:p>
          <a:p>
            <a:pPr algn="l">
              <a:spcAft>
                <a:spcPts val="600"/>
              </a:spcAft>
              <a:defRPr sz="1400" b="0">
                <a:solidFill>
                  <a:srgbClr val="E2E8F0"/>
                </a:solidFill>
                <a:latin typeface="Arial"/>
              </a:defRPr>
            </a:pPr>
            <a:r>
              <a:rPr sz="1600" b="1" dirty="0"/>
              <a:t>Passive Monitoring:</a:t>
            </a:r>
            <a:r>
              <a:rPr sz="1600" dirty="0"/>
              <a:t> </a:t>
            </a:r>
            <a:r>
              <a:rPr lang="en-US" sz="1600" dirty="0"/>
              <a:t> </a:t>
            </a:r>
            <a:r>
              <a:rPr sz="1600" dirty="0"/>
              <a:t>Just glance at the dashboard. Green badge = all safe. Yellow/Red = engine is already handling it.</a:t>
            </a:r>
          </a:p>
          <a:p>
            <a:pPr algn="l">
              <a:spcAft>
                <a:spcPts val="600"/>
              </a:spcAft>
              <a:defRPr sz="1400" b="0">
                <a:solidFill>
                  <a:srgbClr val="E2E8F0"/>
                </a:solidFill>
                <a:latin typeface="Arial"/>
              </a:defRPr>
            </a:pPr>
            <a:r>
              <a:rPr sz="1600" b="1" dirty="0"/>
              <a:t>Active Testing:</a:t>
            </a:r>
            <a:r>
              <a:rPr lang="en-US" sz="1600" b="1" dirty="0"/>
              <a:t>        </a:t>
            </a:r>
            <a:r>
              <a:rPr sz="1600" b="1" dirty="0"/>
              <a:t> </a:t>
            </a:r>
            <a:r>
              <a:rPr lang="en-US" sz="1600" b="1" dirty="0"/>
              <a:t> </a:t>
            </a:r>
            <a:r>
              <a:rPr sz="1600" dirty="0"/>
              <a:t>Open the What-If Scenario Lab, simulate a -25% equity crash, and see exactly how the engine would respond.</a:t>
            </a:r>
          </a:p>
          <a:p>
            <a:pPr algn="l">
              <a:spcAft>
                <a:spcPts val="0"/>
              </a:spcAft>
              <a:defRPr sz="1400" b="0">
                <a:solidFill>
                  <a:srgbClr val="E2E8F0"/>
                </a:solidFill>
                <a:latin typeface="Arial"/>
              </a:defRPr>
            </a:pPr>
            <a:r>
              <a:rPr sz="1600" b="1" dirty="0"/>
              <a:t>Full Transparency: </a:t>
            </a:r>
            <a:r>
              <a:rPr lang="en-US" sz="1600" b="1" dirty="0"/>
              <a:t>  </a:t>
            </a:r>
            <a:r>
              <a:rPr lang="en-US" sz="1600" dirty="0"/>
              <a:t> </a:t>
            </a:r>
            <a:r>
              <a:rPr sz="1600" dirty="0"/>
              <a:t>Every single automated trade has a plain-English explanation in the Decision Audit Log.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SEE IT IN ACTION</a:t>
            </a:r>
          </a:p>
        </p:txBody>
      </p:sp>
      <p:sp>
        <p:nvSpPr>
          <p:cNvPr id="5" name="Rounded Rectangle 4"/>
          <p:cNvSpPr/>
          <p:nvPr/>
        </p:nvSpPr>
        <p:spPr>
          <a:xfrm>
            <a:off x="1463040" y="1828800"/>
            <a:ext cx="7863840" cy="8001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Live Dashboard with Active Simulation</a:t>
            </a:r>
          </a:p>
        </p:txBody>
      </p:sp>
      <p:pic>
        <p:nvPicPr>
          <p:cNvPr id="6" name="Picture 5" descr="ss_live.png"/>
          <p:cNvPicPr>
            <a:picLocks noChangeAspect="1"/>
          </p:cNvPicPr>
          <p:nvPr/>
        </p:nvPicPr>
        <p:blipFill>
          <a:blip r:embed="rId2"/>
          <a:stretch>
            <a:fillRect/>
          </a:stretch>
        </p:blipFill>
        <p:spPr>
          <a:xfrm>
            <a:off x="1463040" y="2468880"/>
            <a:ext cx="7863840" cy="3200400"/>
          </a:xfrm>
          <a:prstGeom prst="rect">
            <a:avLst/>
          </a:prstGeom>
        </p:spPr>
      </p:pic>
      <p:sp>
        <p:nvSpPr>
          <p:cNvPr id="7" name="Rounded Rectangle 6"/>
          <p:cNvSpPr/>
          <p:nvPr/>
        </p:nvSpPr>
        <p:spPr>
          <a:xfrm>
            <a:off x="9601200" y="1828800"/>
            <a:ext cx="7863840" cy="7239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Market Stress Scenario (Crash Detection)</a:t>
            </a:r>
          </a:p>
        </p:txBody>
      </p:sp>
      <p:pic>
        <p:nvPicPr>
          <p:cNvPr id="8" name="Picture 7" descr="ss_stress.png"/>
          <p:cNvPicPr>
            <a:picLocks noChangeAspect="1"/>
          </p:cNvPicPr>
          <p:nvPr/>
        </p:nvPicPr>
        <p:blipFill>
          <a:blip r:embed="rId3"/>
          <a:stretch>
            <a:fillRect/>
          </a:stretch>
        </p:blipFill>
        <p:spPr>
          <a:xfrm>
            <a:off x="9601200" y="2468880"/>
            <a:ext cx="7863840" cy="3200400"/>
          </a:xfrm>
          <a:prstGeom prst="rect">
            <a:avLst/>
          </a:prstGeom>
        </p:spPr>
      </p:pic>
      <p:sp>
        <p:nvSpPr>
          <p:cNvPr id="9" name="Rounded Rectangle 8"/>
          <p:cNvSpPr/>
          <p:nvPr/>
        </p:nvSpPr>
        <p:spPr>
          <a:xfrm>
            <a:off x="1463040" y="5943600"/>
            <a:ext cx="7863840" cy="8001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Decision Engine &amp; Risk Radar</a:t>
            </a:r>
          </a:p>
        </p:txBody>
      </p:sp>
      <p:pic>
        <p:nvPicPr>
          <p:cNvPr id="10" name="Picture 9" descr="ss_decision.png"/>
          <p:cNvPicPr>
            <a:picLocks noChangeAspect="1"/>
          </p:cNvPicPr>
          <p:nvPr/>
        </p:nvPicPr>
        <p:blipFill>
          <a:blip r:embed="rId4"/>
          <a:stretch>
            <a:fillRect/>
          </a:stretch>
        </p:blipFill>
        <p:spPr>
          <a:xfrm>
            <a:off x="1463040" y="6583680"/>
            <a:ext cx="7863840" cy="3200400"/>
          </a:xfrm>
          <a:prstGeom prst="rect">
            <a:avLst/>
          </a:prstGeom>
        </p:spPr>
      </p:pic>
      <p:sp>
        <p:nvSpPr>
          <p:cNvPr id="11" name="Rounded Rectangle 10"/>
          <p:cNvSpPr/>
          <p:nvPr/>
        </p:nvSpPr>
        <p:spPr>
          <a:xfrm>
            <a:off x="9601200" y="5943600"/>
            <a:ext cx="7863840" cy="800100"/>
          </a:xfrm>
          <a:prstGeom prst="roundRect">
            <a:avLst/>
          </a:prstGeom>
          <a:solidFill>
            <a:srgbClr val="141E32"/>
          </a:solidFill>
          <a:ln>
            <a:noFill/>
          </a:ln>
        </p:spPr>
        <p:style>
          <a:lnRef idx="1">
            <a:schemeClr val="accent1"/>
          </a:lnRef>
          <a:fillRef idx="3">
            <a:schemeClr val="accent1"/>
          </a:fillRef>
          <a:effectRef idx="2">
            <a:schemeClr val="accent1"/>
          </a:effectRef>
          <a:fontRef idx="minor">
            <a:schemeClr val="lt1"/>
          </a:fontRef>
        </p:style>
        <p:txBody>
          <a:bodyPr wrap="square" lIns="274320" tIns="73152" rIns="274320" bIns="73152" rtlCol="0" anchor="ctr"/>
          <a:lstStyle/>
          <a:p>
            <a:pPr algn="l">
              <a:spcAft>
                <a:spcPts val="0"/>
              </a:spcAft>
              <a:defRPr sz="1200" b="1">
                <a:solidFill>
                  <a:srgbClr val="38BDF8"/>
                </a:solidFill>
                <a:latin typeface="Arial"/>
              </a:defRPr>
            </a:pPr>
            <a:r>
              <a:t>What-If Quantitative Stress Lab</a:t>
            </a:r>
          </a:p>
        </p:txBody>
      </p:sp>
      <p:pic>
        <p:nvPicPr>
          <p:cNvPr id="12" name="Picture 11" descr="ss_stresslab.png"/>
          <p:cNvPicPr>
            <a:picLocks noChangeAspect="1"/>
          </p:cNvPicPr>
          <p:nvPr/>
        </p:nvPicPr>
        <p:blipFill>
          <a:blip r:embed="rId5"/>
          <a:stretch>
            <a:fillRect/>
          </a:stretch>
        </p:blipFill>
        <p:spPr>
          <a:xfrm>
            <a:off x="9601200" y="6583680"/>
            <a:ext cx="7863840" cy="3200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7065580" cy="1203328"/>
          </a:xfrm>
          <a:prstGeom prst="rect">
            <a:avLst/>
          </a:prstGeom>
        </p:spPr>
        <p:txBody>
          <a:bodyPr lIns="0" tIns="0" rIns="0" bIns="0" rtlCol="0" anchor="t">
            <a:spAutoFit/>
          </a:bodyPr>
          <a:lstStyle/>
          <a:p>
            <a:pPr algn="l">
              <a:lnSpc>
                <a:spcPts val="9350"/>
              </a:lnSpc>
            </a:pPr>
            <a:r>
              <a:rPr lang="en-US" sz="8500" b="1" spc="-212">
                <a:solidFill>
                  <a:srgbClr val="FFFFFF"/>
                </a:solidFill>
                <a:latin typeface="Antonio Bold"/>
                <a:ea typeface="Antonio Bold"/>
                <a:cs typeface="Antonio Bold"/>
                <a:sym typeface="Antonio Bold"/>
              </a:rPr>
              <a:t>REAL-WORLD IMPACT</a:t>
            </a:r>
          </a:p>
        </p:txBody>
      </p:sp>
      <p:sp>
        <p:nvSpPr>
          <p:cNvPr id="5" name="Rounded Rectangle 4"/>
          <p:cNvSpPr/>
          <p:nvPr/>
        </p:nvSpPr>
        <p:spPr>
          <a:xfrm>
            <a:off x="1463040" y="1828800"/>
            <a:ext cx="3657600" cy="164592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4D399"/>
                </a:solidFill>
                <a:latin typeface="Arial"/>
              </a:defRPr>
            </a:pPr>
            <a:r>
              <a:t>70%+</a:t>
            </a:r>
          </a:p>
          <a:p>
            <a:pPr algn="ctr">
              <a:spcAft>
                <a:spcPts val="0"/>
              </a:spcAft>
              <a:defRPr sz="1300" b="0">
                <a:solidFill>
                  <a:srgbClr val="94A3B8"/>
                </a:solidFill>
                <a:latin typeface="Arial"/>
              </a:defRPr>
            </a:pPr>
            <a:r>
              <a:t>Less Unnecessary</a:t>
            </a:r>
            <a:br/>
            <a:r>
              <a:t>Trading</a:t>
            </a:r>
          </a:p>
        </p:txBody>
      </p:sp>
      <p:sp>
        <p:nvSpPr>
          <p:cNvPr id="6" name="Rounded Rectangle 5"/>
          <p:cNvSpPr/>
          <p:nvPr/>
        </p:nvSpPr>
        <p:spPr>
          <a:xfrm>
            <a:off x="5440680" y="1828800"/>
            <a:ext cx="3657600" cy="16459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38BDF8"/>
                </a:solidFill>
                <a:latin typeface="Arial"/>
              </a:defRPr>
            </a:pPr>
            <a:r>
              <a:t>&lt; 12ms</a:t>
            </a:r>
          </a:p>
          <a:p>
            <a:pPr algn="ctr">
              <a:spcAft>
                <a:spcPts val="0"/>
              </a:spcAft>
              <a:defRPr sz="1300" b="0">
                <a:solidFill>
                  <a:srgbClr val="94A3B8"/>
                </a:solidFill>
                <a:latin typeface="Arial"/>
              </a:defRPr>
            </a:pPr>
            <a:r>
              <a:t>Crisis Response</a:t>
            </a:r>
            <a:br/>
            <a:r>
              <a:t>Time</a:t>
            </a:r>
          </a:p>
        </p:txBody>
      </p:sp>
      <p:sp>
        <p:nvSpPr>
          <p:cNvPr id="7" name="Rounded Rectangle 6"/>
          <p:cNvSpPr/>
          <p:nvPr/>
        </p:nvSpPr>
        <p:spPr>
          <a:xfrm>
            <a:off x="9418320" y="1828800"/>
            <a:ext cx="3657600" cy="164592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FBBF24"/>
                </a:solidFill>
                <a:latin typeface="Arial"/>
              </a:defRPr>
            </a:pPr>
            <a:r>
              <a:t>$0</a:t>
            </a:r>
          </a:p>
          <a:p>
            <a:pPr algn="ctr">
              <a:spcAft>
                <a:spcPts val="0"/>
              </a:spcAft>
              <a:defRPr sz="1300" b="0">
                <a:solidFill>
                  <a:srgbClr val="94A3B8"/>
                </a:solidFill>
                <a:latin typeface="Arial"/>
              </a:defRPr>
            </a:pPr>
            <a:r>
              <a:t>External API</a:t>
            </a:r>
            <a:br/>
            <a:r>
              <a:t>Dependency Cost</a:t>
            </a:r>
          </a:p>
        </p:txBody>
      </p:sp>
      <p:sp>
        <p:nvSpPr>
          <p:cNvPr id="8" name="Rounded Rectangle 7"/>
          <p:cNvSpPr/>
          <p:nvPr/>
        </p:nvSpPr>
        <p:spPr>
          <a:xfrm>
            <a:off x="13395960" y="1828800"/>
            <a:ext cx="3657600" cy="164592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74320" rIns="274320" bIns="182880" rtlCol="0" anchor="ctr"/>
          <a:lstStyle/>
          <a:p>
            <a:pPr algn="ctr">
              <a:spcAft>
                <a:spcPts val="200"/>
              </a:spcAft>
              <a:defRPr sz="3600" b="1">
                <a:solidFill>
                  <a:srgbClr val="C084FC"/>
                </a:solidFill>
                <a:latin typeface="Arial"/>
              </a:defRPr>
            </a:pPr>
            <a:r>
              <a:t>100%</a:t>
            </a:r>
          </a:p>
          <a:p>
            <a:pPr algn="ctr">
              <a:spcAft>
                <a:spcPts val="0"/>
              </a:spcAft>
              <a:defRPr sz="1300" b="0">
                <a:solidFill>
                  <a:srgbClr val="94A3B8"/>
                </a:solidFill>
                <a:latin typeface="Arial"/>
              </a:defRPr>
            </a:pPr>
            <a:r>
              <a:t>Automated Test</a:t>
            </a:r>
            <a:br/>
            <a:r>
              <a:t>Coverage</a:t>
            </a:r>
          </a:p>
        </p:txBody>
      </p:sp>
      <p:sp>
        <p:nvSpPr>
          <p:cNvPr id="9" name="Rounded Rectangle 8"/>
          <p:cNvSpPr/>
          <p:nvPr/>
        </p:nvSpPr>
        <p:spPr>
          <a:xfrm>
            <a:off x="1463040" y="3840480"/>
            <a:ext cx="5029200" cy="50292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8BDF8"/>
                </a:solidFill>
                <a:latin typeface="Arial"/>
              </a:defRPr>
            </a:pPr>
            <a:r>
              <a:rPr sz="1600" dirty="0"/>
              <a:t>TECHNICAL FEASIBILITY</a:t>
            </a:r>
          </a:p>
          <a:p>
            <a:pPr algn="l">
              <a:spcAft>
                <a:spcPts val="1800"/>
              </a:spcAft>
              <a:defRPr sz="2200" b="1">
                <a:solidFill>
                  <a:srgbClr val="FFFFFF"/>
                </a:solidFill>
                <a:latin typeface="Arial"/>
              </a:defRPr>
            </a:pPr>
            <a:r>
              <a:rPr sz="2800" u="sng" dirty="0"/>
              <a:t>It Works. Right Now.</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Full optimization converges in 11.4 milliseconds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Entire engine runs locally - no cloud dependency risk</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40 automated tests verify every calculation</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WebSocket streams real-time data to the browser</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Live demo running at </a:t>
            </a:r>
            <a:r>
              <a:rPr sz="1600" dirty="0">
                <a:solidFill>
                  <a:schemeClr val="tx2">
                    <a:lumMod val="60000"/>
                    <a:lumOff val="40000"/>
                  </a:schemeClr>
                </a:solidFill>
                <a:hlinkClick r:id="rId2">
                  <a:extLst>
                    <a:ext uri="{A12FA001-AC4F-418D-AE19-62706E023703}">
                      <ahyp:hlinkClr xmlns:ahyp="http://schemas.microsoft.com/office/drawing/2018/hyperlinkcolor" val="tx"/>
                    </a:ext>
                  </a:extLst>
                </a:hlinkClick>
              </a:rPr>
              <a:t>fortressfi.onrender.com</a:t>
            </a:r>
            <a:endParaRPr sz="1600" dirty="0">
              <a:solidFill>
                <a:schemeClr val="tx2">
                  <a:lumMod val="60000"/>
                  <a:lumOff val="40000"/>
                </a:schemeClr>
              </a:solidFill>
            </a:endParaRPr>
          </a:p>
        </p:txBody>
      </p:sp>
      <p:sp>
        <p:nvSpPr>
          <p:cNvPr id="10" name="Rounded Rectangle 9"/>
          <p:cNvSpPr/>
          <p:nvPr/>
        </p:nvSpPr>
        <p:spPr>
          <a:xfrm>
            <a:off x="6766560" y="3840480"/>
            <a:ext cx="5029200"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4D399"/>
                </a:solidFill>
                <a:latin typeface="Arial"/>
              </a:defRPr>
            </a:pPr>
            <a:r>
              <a:rPr sz="1600" dirty="0"/>
              <a:t>ECONOMIC VALUE</a:t>
            </a:r>
          </a:p>
          <a:p>
            <a:pPr algn="l">
              <a:spcAft>
                <a:spcPts val="1800"/>
              </a:spcAft>
              <a:defRPr sz="2200" b="1">
                <a:solidFill>
                  <a:srgbClr val="FFFFFF"/>
                </a:solidFill>
                <a:latin typeface="Arial"/>
              </a:defRPr>
            </a:pPr>
            <a:r>
              <a:rPr sz="2800" u="sng" dirty="0"/>
              <a:t>Real Cost Savings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Drift-based triggers cut 70%+ of unnecessary trades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Each avoided trade saves broker commissions &amp; slippage</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Millisecond crash response prevents panic-driven losses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Replaces 30-minute emergency committee meetings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Protecting the worst 5% of market days boosts long-term returns</a:t>
            </a:r>
          </a:p>
        </p:txBody>
      </p:sp>
      <p:sp>
        <p:nvSpPr>
          <p:cNvPr id="11" name="Rounded Rectangle 10"/>
          <p:cNvSpPr/>
          <p:nvPr/>
        </p:nvSpPr>
        <p:spPr>
          <a:xfrm>
            <a:off x="12070080" y="3840480"/>
            <a:ext cx="5208270" cy="5029200"/>
          </a:xfrm>
          <a:prstGeom prst="roundRect">
            <a:avLst/>
          </a:prstGeom>
          <a:solidFill>
            <a:srgbClr val="1E293B"/>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C084FC"/>
                </a:solidFill>
                <a:latin typeface="Arial"/>
              </a:defRPr>
            </a:pPr>
            <a:r>
              <a:rPr sz="1600" dirty="0"/>
              <a:t>WHO BENEFITS</a:t>
            </a:r>
          </a:p>
          <a:p>
            <a:pPr algn="l">
              <a:spcAft>
                <a:spcPts val="1800"/>
              </a:spcAft>
              <a:defRPr sz="2200" b="1">
                <a:solidFill>
                  <a:srgbClr val="FFFFFF"/>
                </a:solidFill>
                <a:latin typeface="Arial"/>
              </a:defRPr>
            </a:pPr>
            <a:r>
              <a:rPr sz="2800" u="sng" dirty="0"/>
              <a:t>Real-World Applications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Retail investors who want institutional-grade protection</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Corporate treasuries managing cash reserves safely</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Family offices balancing growth with capital preservation</a:t>
            </a:r>
          </a:p>
          <a:p>
            <a:pPr marL="285750" indent="-285750" algn="l">
              <a:spcAft>
                <a:spcPts val="700"/>
              </a:spcAft>
              <a:buFont typeface="Arial" panose="020B0604020202020204" pitchFamily="34" charset="0"/>
              <a:buChar char="•"/>
              <a:defRPr sz="1400" b="0">
                <a:solidFill>
                  <a:srgbClr val="E2E8F0"/>
                </a:solidFill>
                <a:latin typeface="Arial"/>
              </a:defRPr>
            </a:pPr>
            <a:r>
              <a:rPr sz="1600" dirty="0" err="1"/>
              <a:t>WealthTech</a:t>
            </a:r>
            <a:r>
              <a:rPr sz="1600" dirty="0"/>
              <a:t> platforms adding automated risk features</a:t>
            </a:r>
          </a:p>
          <a:p>
            <a:pPr marL="285750" indent="-285750" algn="l">
              <a:spcAft>
                <a:spcPts val="700"/>
              </a:spcAft>
              <a:buFont typeface="Arial" panose="020B0604020202020204" pitchFamily="34" charset="0"/>
              <a:buChar char="•"/>
              <a:defRPr sz="1400" b="0">
                <a:solidFill>
                  <a:srgbClr val="E2E8F0"/>
                </a:solidFill>
                <a:latin typeface="Arial"/>
              </a:defRPr>
            </a:pPr>
            <a:r>
              <a:rPr sz="1600" dirty="0"/>
              <a:t>Anyone who wants to invest without losing sleep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1469107" y="392252"/>
            <a:ext cx="13898868" cy="1203325"/>
          </a:xfrm>
          <a:prstGeom prst="rect">
            <a:avLst/>
          </a:prstGeom>
        </p:spPr>
        <p:txBody>
          <a:bodyPr lIns="0" tIns="0" rIns="0" bIns="0" rtlCol="0" anchor="t">
            <a:spAutoFit/>
          </a:bodyPr>
          <a:lstStyle/>
          <a:p>
            <a:pPr algn="l">
              <a:lnSpc>
                <a:spcPts val="9349"/>
              </a:lnSpc>
            </a:pPr>
            <a:r>
              <a:rPr lang="en-US" sz="8499" b="1" spc="-212">
                <a:solidFill>
                  <a:srgbClr val="FFFFFF"/>
                </a:solidFill>
                <a:latin typeface="Antonio Bold"/>
                <a:ea typeface="Antonio Bold"/>
                <a:cs typeface="Antonio Bold"/>
                <a:sym typeface="Antonio Bold"/>
              </a:rPr>
              <a:t>WHY WE WIN</a:t>
            </a:r>
          </a:p>
        </p:txBody>
      </p:sp>
      <p:sp>
        <p:nvSpPr>
          <p:cNvPr id="5" name="Rounded Rectangle 4"/>
          <p:cNvSpPr/>
          <p:nvPr/>
        </p:nvSpPr>
        <p:spPr>
          <a:xfrm>
            <a:off x="1910715" y="1827276"/>
            <a:ext cx="7680960" cy="50292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4D399"/>
                </a:solidFill>
                <a:latin typeface="Arial"/>
              </a:defRPr>
            </a:pPr>
            <a:r>
              <a:rPr sz="1600" dirty="0"/>
              <a:t>WHY FORTRESSFI WINS</a:t>
            </a:r>
          </a:p>
          <a:p>
            <a:pPr algn="l">
              <a:spcAft>
                <a:spcPts val="1800"/>
              </a:spcAft>
              <a:defRPr sz="2200" b="1">
                <a:solidFill>
                  <a:srgbClr val="FFFFFF"/>
                </a:solidFill>
                <a:latin typeface="Arial"/>
              </a:defRPr>
            </a:pPr>
            <a:r>
              <a:rPr sz="2800" u="sng" dirty="0"/>
              <a:t>Competitive Comparison</a:t>
            </a:r>
          </a:p>
          <a:p>
            <a:pPr marL="285750" indent="-285750" algn="l">
              <a:spcAft>
                <a:spcPts val="600"/>
              </a:spcAft>
              <a:buFont typeface="Arial" panose="020B0604020202020204" pitchFamily="34" charset="0"/>
              <a:buChar char="•"/>
              <a:defRPr sz="1400" b="1">
                <a:solidFill>
                  <a:srgbClr val="FFFFFF"/>
                </a:solidFill>
                <a:latin typeface="Arial"/>
              </a:defRPr>
            </a:pPr>
            <a:r>
              <a:rPr sz="1600" dirty="0"/>
              <a:t>Traditional Fund Management:</a:t>
            </a:r>
          </a:p>
          <a:p>
            <a:pPr algn="l">
              <a:spcAft>
                <a:spcPts val="1000"/>
              </a:spcAft>
              <a:defRPr sz="1300" b="0">
                <a:solidFill>
                  <a:srgbClr val="F87171"/>
                </a:solidFill>
                <a:latin typeface="Arial"/>
              </a:defRPr>
            </a:pPr>
            <a:r>
              <a:rPr sz="1600" dirty="0"/>
              <a:t>  [-] Static monthly/quarterly rebalancing (too slow)</a:t>
            </a:r>
            <a:br>
              <a:rPr sz="1600" dirty="0"/>
            </a:br>
            <a:r>
              <a:rPr sz="1600" dirty="0"/>
              <a:t>  [-] No automated crash protection</a:t>
            </a:r>
            <a:br>
              <a:rPr sz="1600" dirty="0"/>
            </a:br>
            <a:r>
              <a:rPr sz="1600" dirty="0"/>
              <a:t>  [-] Delayed quarterly PDF reports</a:t>
            </a:r>
          </a:p>
          <a:p>
            <a:pPr marL="285750" indent="-285750" algn="l">
              <a:spcAft>
                <a:spcPts val="600"/>
              </a:spcAft>
              <a:buFont typeface="Arial" panose="020B0604020202020204" pitchFamily="34" charset="0"/>
              <a:buChar char="•"/>
              <a:defRPr sz="1400" b="1">
                <a:solidFill>
                  <a:srgbClr val="FFFFFF"/>
                </a:solidFill>
                <a:latin typeface="Arial"/>
              </a:defRPr>
            </a:pPr>
            <a:r>
              <a:rPr sz="1600" dirty="0"/>
              <a:t>Generic Robo-Advisors:</a:t>
            </a:r>
          </a:p>
          <a:p>
            <a:pPr algn="l">
              <a:spcAft>
                <a:spcPts val="1000"/>
              </a:spcAft>
              <a:defRPr sz="1300" b="0">
                <a:solidFill>
                  <a:srgbClr val="F87171"/>
                </a:solidFill>
                <a:latin typeface="Arial"/>
              </a:defRPr>
            </a:pPr>
            <a:r>
              <a:rPr sz="1600" dirty="0"/>
              <a:t>  [-] One-time risk questionnaires (never adapt)</a:t>
            </a:r>
            <a:br>
              <a:rPr sz="1600" dirty="0"/>
            </a:br>
            <a:r>
              <a:rPr sz="1600" dirty="0"/>
              <a:t>  [-] High-frequency trading burns fees</a:t>
            </a:r>
            <a:br>
              <a:rPr sz="1600" dirty="0"/>
            </a:br>
            <a:r>
              <a:rPr sz="1600" dirty="0"/>
              <a:t>  [-] Opaque black-box decisions</a:t>
            </a:r>
          </a:p>
          <a:p>
            <a:pPr marL="285750" indent="-285750" algn="l">
              <a:spcAft>
                <a:spcPts val="600"/>
              </a:spcAft>
              <a:buFont typeface="Arial" panose="020B0604020202020204" pitchFamily="34" charset="0"/>
              <a:buChar char="•"/>
              <a:defRPr sz="1400" b="1">
                <a:solidFill>
                  <a:srgbClr val="FFFFFF"/>
                </a:solidFill>
                <a:latin typeface="Arial"/>
              </a:defRPr>
            </a:pPr>
            <a:r>
              <a:rPr sz="1600" dirty="0" err="1"/>
              <a:t>FortressFi</a:t>
            </a:r>
            <a:r>
              <a:rPr sz="1600" dirty="0"/>
              <a:t> (Our Solution):</a:t>
            </a:r>
          </a:p>
          <a:p>
            <a:pPr algn="l">
              <a:spcAft>
                <a:spcPts val="0"/>
              </a:spcAft>
              <a:defRPr sz="1300" b="0">
                <a:solidFill>
                  <a:srgbClr val="34D399"/>
                </a:solidFill>
                <a:latin typeface="Arial"/>
              </a:defRPr>
            </a:pPr>
            <a:r>
              <a:rPr sz="1600" dirty="0"/>
              <a:t>  [+] Adaptive drift-gated execution (smart trading)</a:t>
            </a:r>
            <a:br>
              <a:rPr sz="1600" dirty="0"/>
            </a:br>
            <a:r>
              <a:rPr sz="1600" dirty="0"/>
              <a:t>  [+] 4-tier autonomous risk guardrails</a:t>
            </a:r>
            <a:br>
              <a:rPr sz="1600" dirty="0"/>
            </a:br>
            <a:r>
              <a:rPr sz="1600" dirty="0"/>
              <a:t>  [+] Plain-English explainable audit trail</a:t>
            </a:r>
          </a:p>
        </p:txBody>
      </p:sp>
      <p:sp>
        <p:nvSpPr>
          <p:cNvPr id="6" name="Rounded Rectangle 5"/>
          <p:cNvSpPr/>
          <p:nvPr/>
        </p:nvSpPr>
        <p:spPr>
          <a:xfrm>
            <a:off x="10039350" y="1827276"/>
            <a:ext cx="6168390" cy="768096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l">
              <a:spcAft>
                <a:spcPts val="400"/>
              </a:spcAft>
              <a:defRPr sz="1200" b="1">
                <a:solidFill>
                  <a:srgbClr val="38BDF8"/>
                </a:solidFill>
                <a:latin typeface="Arial"/>
              </a:defRPr>
            </a:pPr>
            <a:r>
              <a:rPr sz="1600" dirty="0"/>
              <a:t>ACADEMIC FOUNDATION &amp; LINKS</a:t>
            </a:r>
          </a:p>
          <a:p>
            <a:pPr algn="l">
              <a:spcAft>
                <a:spcPts val="1800"/>
              </a:spcAft>
              <a:defRPr sz="2200" b="1">
                <a:solidFill>
                  <a:srgbClr val="FFFFFF"/>
                </a:solidFill>
                <a:latin typeface="Arial"/>
              </a:defRPr>
            </a:pPr>
            <a:r>
              <a:rPr sz="2800" u="sng" dirty="0"/>
              <a:t>Built on Proven Finance</a:t>
            </a:r>
          </a:p>
          <a:p>
            <a:pPr marL="342900" indent="-342900" algn="l">
              <a:spcAft>
                <a:spcPts val="600"/>
              </a:spcAft>
              <a:buFont typeface="Arial" panose="020B0604020202020204" pitchFamily="34" charset="0"/>
              <a:buChar char="•"/>
              <a:defRPr sz="1400" b="1">
                <a:solidFill>
                  <a:srgbClr val="FFFFFF"/>
                </a:solidFill>
                <a:latin typeface="Arial"/>
              </a:defRPr>
            </a:pPr>
            <a:r>
              <a:rPr sz="1600" dirty="0"/>
              <a:t>Markowitz (1952)</a:t>
            </a:r>
          </a:p>
          <a:p>
            <a:pPr algn="l">
              <a:spcAft>
                <a:spcPts val="1000"/>
              </a:spcAft>
              <a:defRPr sz="1200" b="0">
                <a:solidFill>
                  <a:srgbClr val="94A3B8"/>
                </a:solidFill>
                <a:latin typeface="Arial"/>
              </a:defRPr>
            </a:pPr>
            <a:r>
              <a:rPr sz="1600" dirty="0"/>
              <a:t>'Portfolio Selection', Journal of Finance</a:t>
            </a:r>
            <a:br>
              <a:rPr lang="en-IN" sz="1600" dirty="0"/>
            </a:br>
            <a:r>
              <a:rPr sz="1600" dirty="0"/>
              <a:t>Foundation of Mean-Variance optimization</a:t>
            </a:r>
          </a:p>
          <a:p>
            <a:pPr marL="285750" indent="-285750" algn="l">
              <a:spcAft>
                <a:spcPts val="600"/>
              </a:spcAft>
              <a:buFont typeface="Arial" panose="020B0604020202020204" pitchFamily="34" charset="0"/>
              <a:buChar char="•"/>
              <a:defRPr sz="1400" b="1">
                <a:solidFill>
                  <a:srgbClr val="FFFFFF"/>
                </a:solidFill>
                <a:latin typeface="Arial"/>
              </a:defRPr>
            </a:pPr>
            <a:r>
              <a:rPr sz="1600" dirty="0" err="1"/>
              <a:t>Rockafellar</a:t>
            </a:r>
            <a:r>
              <a:rPr sz="1600" dirty="0"/>
              <a:t> &amp; </a:t>
            </a:r>
            <a:r>
              <a:rPr sz="1600" dirty="0" err="1"/>
              <a:t>Uryasev</a:t>
            </a:r>
            <a:r>
              <a:rPr sz="1600" dirty="0"/>
              <a:t> (2000)</a:t>
            </a:r>
          </a:p>
          <a:p>
            <a:pPr algn="l">
              <a:spcAft>
                <a:spcPts val="1000"/>
              </a:spcAft>
              <a:defRPr sz="1200" b="0">
                <a:solidFill>
                  <a:srgbClr val="94A3B8"/>
                </a:solidFill>
                <a:latin typeface="Arial"/>
              </a:defRPr>
            </a:pPr>
            <a:r>
              <a:rPr sz="1600" dirty="0"/>
              <a:t>'Optimization of CVaR', Journal of Risk</a:t>
            </a:r>
            <a:br>
              <a:rPr sz="1600" dirty="0"/>
            </a:br>
            <a:r>
              <a:rPr sz="1600" dirty="0"/>
              <a:t>Tail risk measurement framework</a:t>
            </a:r>
          </a:p>
          <a:p>
            <a:pPr marL="285750" indent="-285750" algn="l">
              <a:spcAft>
                <a:spcPts val="600"/>
              </a:spcAft>
              <a:buFont typeface="Arial" panose="020B0604020202020204" pitchFamily="34" charset="0"/>
              <a:buChar char="•"/>
              <a:defRPr sz="1400" b="1">
                <a:solidFill>
                  <a:srgbClr val="FFFFFF"/>
                </a:solidFill>
                <a:latin typeface="Arial"/>
              </a:defRPr>
            </a:pPr>
            <a:r>
              <a:rPr sz="1600" dirty="0"/>
              <a:t>Basel Committee FRTB (2019)</a:t>
            </a:r>
          </a:p>
          <a:p>
            <a:pPr>
              <a:spcAft>
                <a:spcPts val="600"/>
              </a:spcAft>
              <a:defRPr sz="1200" b="1">
                <a:solidFill>
                  <a:srgbClr val="34D399"/>
                </a:solidFill>
                <a:latin typeface="Arial"/>
              </a:defRPr>
            </a:pPr>
            <a:r>
              <a:rPr sz="1600" dirty="0"/>
              <a:t>Global banking standard mandating</a:t>
            </a:r>
            <a:br>
              <a:rPr sz="1600" dirty="0"/>
            </a:br>
            <a:r>
              <a:rPr sz="1600" dirty="0"/>
              <a:t>Expected Shortfall for market risk</a:t>
            </a:r>
            <a:endParaRPr lang="en-US" sz="1600" dirty="0"/>
          </a:p>
          <a:p>
            <a:pPr>
              <a:spcAft>
                <a:spcPts val="600"/>
              </a:spcAft>
              <a:defRPr sz="1200" b="1">
                <a:solidFill>
                  <a:srgbClr val="34D399"/>
                </a:solidFill>
                <a:latin typeface="Arial"/>
              </a:defRPr>
            </a:pPr>
            <a:endParaRPr lang="en-US" sz="1600" dirty="0"/>
          </a:p>
          <a:p>
            <a:pPr>
              <a:spcAft>
                <a:spcPts val="600"/>
              </a:spcAft>
              <a:defRPr sz="1200" b="1">
                <a:solidFill>
                  <a:srgbClr val="34D399"/>
                </a:solidFill>
                <a:latin typeface="Arial"/>
              </a:defRPr>
            </a:pPr>
            <a:r>
              <a:rPr lang="en-US" sz="1600" dirty="0">
                <a:solidFill>
                  <a:schemeClr val="accent2">
                    <a:lumMod val="60000"/>
                    <a:lumOff val="40000"/>
                  </a:schemeClr>
                </a:solidFill>
              </a:rPr>
              <a:t>PROJECT LINKS</a:t>
            </a:r>
          </a:p>
          <a:p>
            <a:pPr>
              <a:spcAft>
                <a:spcPts val="400"/>
              </a:spcAft>
              <a:defRPr sz="1300" b="1">
                <a:solidFill>
                  <a:srgbClr val="34D399"/>
                </a:solidFill>
                <a:latin typeface="Arial"/>
              </a:defRPr>
            </a:pPr>
            <a:r>
              <a:rPr lang="en-US" sz="1600" dirty="0">
                <a:solidFill>
                  <a:schemeClr val="bg1"/>
                </a:solidFill>
              </a:rPr>
              <a:t>Live Demo:</a:t>
            </a:r>
            <a:r>
              <a:rPr lang="en-US" sz="1600" dirty="0">
                <a:solidFill>
                  <a:schemeClr val="tx2">
                    <a:lumMod val="60000"/>
                    <a:lumOff val="40000"/>
                  </a:schemeClr>
                </a:solidFill>
              </a:rPr>
              <a:t>  </a:t>
            </a:r>
            <a:r>
              <a:rPr lang="en-US" sz="1600" dirty="0">
                <a:solidFill>
                  <a:schemeClr val="tx2">
                    <a:lumMod val="60000"/>
                    <a:lumOff val="40000"/>
                  </a:schemeClr>
                </a:solidFill>
                <a:hlinkClick r:id="rId2">
                  <a:extLst>
                    <a:ext uri="{A12FA001-AC4F-418D-AE19-62706E023703}">
                      <ahyp:hlinkClr xmlns:ahyp="http://schemas.microsoft.com/office/drawing/2018/hyperlinkcolor" val="tx"/>
                    </a:ext>
                  </a:extLst>
                </a:hlinkClick>
              </a:rPr>
              <a:t>https://fortressfi.onrender.com</a:t>
            </a:r>
            <a:endParaRPr lang="en-US" sz="1600" dirty="0">
              <a:solidFill>
                <a:schemeClr val="tx2">
                  <a:lumMod val="60000"/>
                  <a:lumOff val="40000"/>
                </a:schemeClr>
              </a:solidFill>
            </a:endParaRPr>
          </a:p>
          <a:p>
            <a:pPr>
              <a:defRPr sz="1300" b="1">
                <a:solidFill>
                  <a:srgbClr val="38BDF8"/>
                </a:solidFill>
                <a:latin typeface="Arial"/>
              </a:defRPr>
            </a:pPr>
            <a:r>
              <a:rPr lang="en-US" sz="1600" dirty="0">
                <a:solidFill>
                  <a:schemeClr val="bg1"/>
                </a:solidFill>
              </a:rPr>
              <a:t>GitHub:</a:t>
            </a:r>
            <a:r>
              <a:rPr lang="en-US" sz="1600" dirty="0"/>
              <a:t>  </a:t>
            </a:r>
            <a:r>
              <a:rPr lang="en-US" sz="1600" dirty="0">
                <a:solidFill>
                  <a:schemeClr val="tx2">
                    <a:lumMod val="60000"/>
                    <a:lumOff val="40000"/>
                  </a:schemeClr>
                </a:solidFill>
                <a:hlinkClick r:id="rId3">
                  <a:extLst>
                    <a:ext uri="{A12FA001-AC4F-418D-AE19-62706E023703}">
                      <ahyp:hlinkClr xmlns:ahyp="http://schemas.microsoft.com/office/drawing/2018/hyperlinkcolor" val="tx"/>
                    </a:ext>
                  </a:extLst>
                </a:hlinkClick>
              </a:rPr>
              <a:t>github.com/tarun05-design/</a:t>
            </a:r>
            <a:r>
              <a:rPr lang="en-US" sz="1600" dirty="0" err="1">
                <a:solidFill>
                  <a:schemeClr val="tx2">
                    <a:lumMod val="60000"/>
                    <a:lumOff val="40000"/>
                  </a:schemeClr>
                </a:solidFill>
                <a:hlinkClick r:id="rId3">
                  <a:extLst>
                    <a:ext uri="{A12FA001-AC4F-418D-AE19-62706E023703}">
                      <ahyp:hlinkClr xmlns:ahyp="http://schemas.microsoft.com/office/drawing/2018/hyperlinkcolor" val="tx"/>
                    </a:ext>
                  </a:extLst>
                </a:hlinkClick>
              </a:rPr>
              <a:t>FortressFi</a:t>
            </a:r>
            <a:endParaRPr lang="en-US" sz="1600" dirty="0">
              <a:solidFill>
                <a:schemeClr val="tx2">
                  <a:lumMod val="60000"/>
                  <a:lumOff val="40000"/>
                </a:schemeClr>
              </a:solidFill>
            </a:endParaRPr>
          </a:p>
          <a:p>
            <a:pPr>
              <a:spcAft>
                <a:spcPts val="600"/>
              </a:spcAft>
              <a:defRPr sz="1200" b="1">
                <a:solidFill>
                  <a:srgbClr val="34D399"/>
                </a:solidFill>
                <a:latin typeface="Arial"/>
              </a:defRPr>
            </a:pPr>
            <a:endParaRPr sz="1600" dirty="0"/>
          </a:p>
        </p:txBody>
      </p:sp>
      <p:sp>
        <p:nvSpPr>
          <p:cNvPr id="7" name="Rounded Rectangle 6"/>
          <p:cNvSpPr/>
          <p:nvPr/>
        </p:nvSpPr>
        <p:spPr>
          <a:xfrm>
            <a:off x="1910715" y="7222236"/>
            <a:ext cx="7680960" cy="2286000"/>
          </a:xfrm>
          <a:prstGeom prst="roundRect">
            <a:avLst/>
          </a:prstGeom>
          <a:solidFill>
            <a:srgbClr val="141E32"/>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spcAft>
                <a:spcPts val="400"/>
              </a:spcAft>
              <a:defRPr sz="1800" b="0">
                <a:solidFill>
                  <a:srgbClr val="E2E8F0"/>
                </a:solidFill>
                <a:latin typeface="Arial"/>
              </a:defRPr>
            </a:pPr>
            <a:r>
              <a:rPr dirty="0"/>
              <a:t>"</a:t>
            </a:r>
            <a:r>
              <a:rPr dirty="0" err="1"/>
              <a:t>FortressFi</a:t>
            </a:r>
            <a:r>
              <a:rPr dirty="0"/>
              <a:t> doesn't just theorize about risk control.</a:t>
            </a:r>
          </a:p>
          <a:p>
            <a:pPr>
              <a:spcAft>
                <a:spcPts val="400"/>
              </a:spcAft>
              <a:defRPr sz="1800" b="0">
                <a:solidFill>
                  <a:srgbClr val="E2E8F0"/>
                </a:solidFill>
                <a:latin typeface="Arial"/>
              </a:defRPr>
            </a:pPr>
            <a:r>
              <a:rPr dirty="0"/>
              <a:t>It implements a working, mathematically sound, fully tested engine</a:t>
            </a:r>
          </a:p>
          <a:p>
            <a:pPr>
              <a:spcAft>
                <a:spcPts val="2400"/>
              </a:spcAft>
              <a:defRPr sz="1800" b="0">
                <a:solidFill>
                  <a:srgbClr val="E2E8F0"/>
                </a:solidFill>
                <a:latin typeface="Arial"/>
              </a:defRPr>
            </a:pPr>
            <a:r>
              <a:rPr dirty="0"/>
              <a:t>that solves the</a:t>
            </a:r>
            <a:r>
              <a:rPr lang="en-US" dirty="0"/>
              <a:t> </a:t>
            </a:r>
            <a:r>
              <a:rPr dirty="0"/>
              <a:t>challenge end-to-end."</a:t>
            </a:r>
          </a:p>
          <a:p>
            <a:pPr>
              <a:spcAft>
                <a:spcPts val="0"/>
              </a:spcAft>
              <a:defRPr sz="1300" b="0">
                <a:solidFill>
                  <a:srgbClr val="94A3B8"/>
                </a:solidFill>
                <a:latin typeface="Arial"/>
              </a:defRPr>
            </a:pPr>
            <a:r>
              <a:rPr sz="1600" dirty="0"/>
              <a:t>Built with care for Init'26 FinTech </a:t>
            </a:r>
            <a:r>
              <a:rPr lang="en-US" sz="1600" dirty="0"/>
              <a:t>Track </a:t>
            </a:r>
            <a:r>
              <a:rPr sz="1600" dirty="0"/>
              <a:t>Hackathon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119</TotalTime>
  <Words>1202</Words>
  <Application>Microsoft Office PowerPoint</Application>
  <PresentationFormat>Custom</PresentationFormat>
  <Paragraphs>163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Poppins Bold</vt:lpstr>
      <vt:lpstr>Antonio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FOSS Workshop (1980 x 1080 px)</dc:title>
  <dc:creator>Prathamesh</dc:creator>
  <cp:lastModifiedBy>Tarun Parthasarathy</cp:lastModifiedBy>
  <cp:revision>7</cp:revision>
  <dcterms:created xsi:type="dcterms:W3CDTF">2006-08-16T00:00:00Z</dcterms:created>
  <dcterms:modified xsi:type="dcterms:W3CDTF">2026-09-05T19:30:41Z</dcterms:modified>
  <dc:identifier>DAHRPhLBNzY</dc:identifier>
</cp:coreProperties>
</file>