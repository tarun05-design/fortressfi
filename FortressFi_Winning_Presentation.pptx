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859500" cy="10287000"/>
  <p:notesSz cx="6858000" cy="9144000"/>
  <p:embeddedFontLst>
    <p:embeddedFont>
      <p:font typeface="Antonio Bold" panose="020B0604020202020204" charset="0"/>
      <p:regular r:id="rId10"/>
    </p:embeddedFont>
    <p:embeddedFont>
      <p:font typeface="Poppins Bol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33" d="100"/>
          <a:sy n="33" d="100"/>
        </p:scale>
        <p:origin x="1896" y="6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45874" y="620428"/>
            <a:ext cx="1184926" cy="1050798"/>
          </a:xfrm>
          <a:custGeom>
            <a:avLst/>
            <a:gdLst/>
            <a:ahLst/>
            <a:cxnLst/>
            <a:rect l="l" t="t" r="r" b="b"/>
            <a:pathLst>
              <a:path w="1184926" h="1050798">
                <a:moveTo>
                  <a:pt x="0" y="0"/>
                </a:moveTo>
                <a:lnTo>
                  <a:pt x="1184926" y="0"/>
                </a:lnTo>
                <a:lnTo>
                  <a:pt x="1184926" y="1050799"/>
                </a:lnTo>
                <a:lnTo>
                  <a:pt x="0" y="1050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7031" t="-28043" r="-20273" b="-38064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9716904" y="523542"/>
            <a:ext cx="6183758" cy="1244571"/>
            <a:chOff x="0" y="0"/>
            <a:chExt cx="8245010" cy="1659429"/>
          </a:xfrm>
        </p:grpSpPr>
        <p:sp>
          <p:nvSpPr>
            <p:cNvPr id="4" name="Freeform 4"/>
            <p:cNvSpPr/>
            <p:nvPr/>
          </p:nvSpPr>
          <p:spPr>
            <a:xfrm>
              <a:off x="1008656" y="0"/>
              <a:ext cx="1982708" cy="1659429"/>
            </a:xfrm>
            <a:custGeom>
              <a:avLst/>
              <a:gdLst/>
              <a:ahLst/>
              <a:cxnLst/>
              <a:rect l="l" t="t" r="r" b="b"/>
              <a:pathLst>
                <a:path w="1982708" h="1659429">
                  <a:moveTo>
                    <a:pt x="0" y="0"/>
                  </a:moveTo>
                  <a:lnTo>
                    <a:pt x="1982708" y="0"/>
                  </a:lnTo>
                  <a:lnTo>
                    <a:pt x="1982708" y="1659429"/>
                  </a:lnTo>
                  <a:lnTo>
                    <a:pt x="0" y="1659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8459" r="-27632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0" y="0"/>
              <a:ext cx="1008656" cy="1659429"/>
            </a:xfrm>
            <a:custGeom>
              <a:avLst/>
              <a:gdLst/>
              <a:ahLst/>
              <a:cxnLst/>
              <a:rect l="l" t="t" r="r" b="b"/>
              <a:pathLst>
                <a:path w="1008656" h="1659429">
                  <a:moveTo>
                    <a:pt x="0" y="0"/>
                  </a:moveTo>
                  <a:lnTo>
                    <a:pt x="1008656" y="0"/>
                  </a:lnTo>
                  <a:lnTo>
                    <a:pt x="1008656" y="1659429"/>
                  </a:lnTo>
                  <a:lnTo>
                    <a:pt x="0" y="1659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4912" r="-739730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2766385" y="0"/>
              <a:ext cx="5478625" cy="1659429"/>
            </a:xfrm>
            <a:custGeom>
              <a:avLst/>
              <a:gdLst/>
              <a:ahLst/>
              <a:cxnLst/>
              <a:rect l="l" t="t" r="r" b="b"/>
              <a:pathLst>
                <a:path w="5478625" h="1659429">
                  <a:moveTo>
                    <a:pt x="0" y="0"/>
                  </a:moveTo>
                  <a:lnTo>
                    <a:pt x="5478625" y="0"/>
                  </a:lnTo>
                  <a:lnTo>
                    <a:pt x="5478625" y="1659429"/>
                  </a:lnTo>
                  <a:lnTo>
                    <a:pt x="0" y="1659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7346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111988" y="3479703"/>
            <a:ext cx="12635525" cy="3565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516"/>
              </a:lnSpc>
            </a:pPr>
            <a:r>
              <a:rPr lang="en-US" sz="25015" b="1" spc="-625" dirty="0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INIT’26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4138413" y="4202072"/>
            <a:ext cx="10582674" cy="1558010"/>
            <a:chOff x="0" y="0"/>
            <a:chExt cx="14110232" cy="2077347"/>
          </a:xfrm>
        </p:grpSpPr>
        <p:sp>
          <p:nvSpPr>
            <p:cNvPr id="9" name="Freeform 9"/>
            <p:cNvSpPr/>
            <p:nvPr/>
          </p:nvSpPr>
          <p:spPr>
            <a:xfrm rot="5400000">
              <a:off x="-604319" y="604319"/>
              <a:ext cx="2077347" cy="868709"/>
            </a:xfrm>
            <a:custGeom>
              <a:avLst/>
              <a:gdLst/>
              <a:ahLst/>
              <a:cxnLst/>
              <a:rect l="l" t="t" r="r" b="b"/>
              <a:pathLst>
                <a:path w="2077347" h="868709">
                  <a:moveTo>
                    <a:pt x="0" y="0"/>
                  </a:moveTo>
                  <a:lnTo>
                    <a:pt x="2077347" y="0"/>
                  </a:lnTo>
                  <a:lnTo>
                    <a:pt x="2077347" y="868709"/>
                  </a:lnTo>
                  <a:lnTo>
                    <a:pt x="0" y="8687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 dirty="0"/>
            </a:p>
          </p:txBody>
        </p:sp>
        <p:sp>
          <p:nvSpPr>
            <p:cNvPr id="10" name="Freeform 10"/>
            <p:cNvSpPr/>
            <p:nvPr/>
          </p:nvSpPr>
          <p:spPr>
            <a:xfrm rot="5400000" flipH="1" flipV="1">
              <a:off x="12637204" y="604319"/>
              <a:ext cx="2077347" cy="868709"/>
            </a:xfrm>
            <a:custGeom>
              <a:avLst/>
              <a:gdLst/>
              <a:ahLst/>
              <a:cxnLst/>
              <a:rect l="l" t="t" r="r" b="b"/>
              <a:pathLst>
                <a:path w="2077347" h="868709">
                  <a:moveTo>
                    <a:pt x="2077347" y="868709"/>
                  </a:moveTo>
                  <a:lnTo>
                    <a:pt x="0" y="868709"/>
                  </a:lnTo>
                  <a:lnTo>
                    <a:pt x="0" y="0"/>
                  </a:lnTo>
                  <a:lnTo>
                    <a:pt x="2077347" y="0"/>
                  </a:lnTo>
                  <a:lnTo>
                    <a:pt x="2077347" y="868709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057077" y="6482451"/>
            <a:ext cx="12745346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50"/>
              </a:lnSpc>
            </a:pPr>
            <a:r>
              <a:rPr lang="en-US" sz="7500" b="1">
                <a:solidFill>
                  <a:srgbClr val="2DAF4B"/>
                </a:solidFill>
                <a:latin typeface="Poppins Bold"/>
                <a:ea typeface="Poppins Bold"/>
                <a:cs typeface="Poppins Bold"/>
                <a:sym typeface="Poppins Bold"/>
              </a:rPr>
              <a:t>PPT FORMAT</a:t>
            </a:r>
          </a:p>
        </p:txBody>
      </p:sp>
      <p:sp>
        <p:nvSpPr>
          <p:cNvPr id="21" name="AutoShape 21"/>
          <p:cNvSpPr/>
          <p:nvPr/>
        </p:nvSpPr>
        <p:spPr>
          <a:xfrm>
            <a:off x="16272137" y="460047"/>
            <a:ext cx="0" cy="137156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Box 23"/>
          <p:cNvSpPr txBox="1"/>
          <p:nvPr/>
        </p:nvSpPr>
        <p:spPr>
          <a:xfrm>
            <a:off x="3057077" y="7378118"/>
            <a:ext cx="12745346" cy="1314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050"/>
              </a:lnSpc>
            </a:pPr>
            <a:r>
              <a:rPr lang="en-US" sz="750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(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371600" y="8229600"/>
            <a:ext cx="1609344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4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INIT'26 FINTECH HACKATHON  //  ASSET &amp; CAPITAL MANAGEMENT TRACK</a:t>
            </a:r>
          </a:p>
          <a:p>
            <a:pPr algn="ctr">
              <a:spcAft>
                <a:spcPts val="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FortressFi  -  Adaptive Risk-Guardrail Portfolio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1 : TITLE SLIDE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69107" y="1847850"/>
            <a:ext cx="13898868" cy="635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TRACK :</a:t>
            </a:r>
          </a:p>
          <a:p>
            <a:pPr algn="l">
              <a:lnSpc>
                <a:spcPts val="127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PROBLEM STATEMENT : </a:t>
            </a:r>
          </a:p>
          <a:p>
            <a:pPr algn="l">
              <a:lnSpc>
                <a:spcPts val="127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TEAM NAME :</a:t>
            </a:r>
          </a:p>
          <a:p>
            <a:pPr algn="l">
              <a:lnSpc>
                <a:spcPts val="127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IDEA TITLE 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828800"/>
            <a:ext cx="822960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65760" bIns="182880"/>
          <a:lstStyle/>
          <a:p>
            <a:pPr algn="l">
              <a:spcAft>
                <a:spcPts val="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TRACK</a:t>
            </a:r>
          </a:p>
          <a:p>
            <a:pPr algn="l">
              <a:spcAft>
                <a:spcPts val="16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FinTech - Asset &amp; Capital Management</a:t>
            </a:r>
          </a:p>
          <a:p>
            <a:pPr algn="l">
              <a:spcAft>
                <a:spcPts val="2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PROBLEM STATEMENT</a:t>
            </a:r>
          </a:p>
          <a:p>
            <a:pPr algn="l">
              <a:spcAft>
                <a:spcPts val="16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Automated Capital Management with</a:t>
            </a:r>
            <a:br/>
            <a:r>
              <a:t>Real-Time Risk Guardrail Optimization</a:t>
            </a:r>
          </a:p>
          <a:p>
            <a:pPr algn="l">
              <a:spcAft>
                <a:spcPts val="2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t>TEAM NAME</a:t>
            </a:r>
          </a:p>
          <a:p>
            <a:pPr algn="l">
              <a:spcAft>
                <a:spcPts val="16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Team FortressFi</a:t>
            </a:r>
          </a:p>
          <a:p>
            <a:pPr algn="l">
              <a:spcAft>
                <a:spcPts val="200"/>
              </a:spcAft>
              <a:defRPr sz="1200" b="1">
                <a:solidFill>
                  <a:srgbClr val="FBBF24"/>
                </a:solidFill>
                <a:latin typeface="Arial"/>
              </a:defRPr>
            </a:pPr>
            <a:r>
              <a:t>IDEA TITLE</a:t>
            </a:r>
          </a:p>
          <a:p>
            <a:pPr algn="l">
              <a:spcAft>
                <a:spcPts val="16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FortressFi - Adaptive Risk-Guardrail</a:t>
            </a:r>
            <a:br/>
            <a:r>
              <a:t>Portfolio Engine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1828800"/>
            <a:ext cx="7132320" cy="45720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 bIns="182880"/>
          <a:lstStyle/>
          <a:p>
            <a:pPr algn="l">
              <a:spcAft>
                <a:spcPts val="6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t>THE SIMPLE IDEA</a:t>
            </a:r>
          </a:p>
          <a:p>
            <a:pPr algn="l">
              <a:spcAft>
                <a:spcPts val="1400"/>
              </a:spcAft>
              <a:defRPr sz="2400" b="1">
                <a:solidFill>
                  <a:srgbClr val="FFFFFF"/>
                </a:solidFill>
                <a:latin typeface="Arial"/>
              </a:defRPr>
            </a:pPr>
            <a:r>
              <a:t>"Cruise Control for Your Investments"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Think of driving on a highway. Cruise control keeps your speed steady and saves fuel.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If a car suddenly brakes in front of you, automatic emergency braking kicks in instantly.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FortressFi does exactly this for investment portfolios. It steadily grows your money in calm markets...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...and the SECOND a crash begins, it automatically moves capital to safety before losses pile 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6858000"/>
            <a:ext cx="15727680" cy="1371600"/>
          </a:xfrm>
          <a:prstGeom prst="round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0"/>
              </a:spcAft>
              <a:defRPr sz="1600" b="0">
                <a:solidFill>
                  <a:srgbClr val="94A3B8"/>
                </a:solidFill>
                <a:latin typeface="Arial"/>
              </a:defRPr>
            </a:pPr>
            <a:r>
              <a:t>Autonomously maximizes risk-adjusted returns while instantly shielding capital from sudden market crashes.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2 : PROPOSED 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828800"/>
            <a:ext cx="15910559" cy="201168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600"/>
              </a:spcAft>
              <a:defRPr sz="1200" b="1">
                <a:solidFill>
                  <a:srgbClr val="FBBF24"/>
                </a:solidFill>
                <a:latin typeface="Arial"/>
              </a:defRPr>
            </a:pPr>
            <a:r>
              <a:t>THE PROBLEM WE'RE SOLVING</a:t>
            </a:r>
          </a:p>
          <a:p>
            <a:pPr algn="l">
              <a:spcAft>
                <a:spcPts val="0"/>
              </a:spcAft>
              <a:defRPr sz="1600" b="0">
                <a:solidFill>
                  <a:srgbClr val="E2E8F0"/>
                </a:solidFill>
                <a:latin typeface="Arial"/>
              </a:defRPr>
            </a:pPr>
            <a:r>
              <a:t>When markets crash, manual portfolio reviews take days. By then, losses are already locked in.</a:t>
            </a:r>
            <a:br/>
            <a:r>
              <a:t>Existing robo-advisors trade too frequently (burning fees) or use black-box models nobody trusts.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4206240"/>
            <a:ext cx="50292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ENGINE 1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Smart Optimizer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E2E8F0"/>
                </a:solidFill>
                <a:latin typeface="Arial"/>
              </a:defRPr>
            </a:pPr>
            <a:r>
              <a:t>Finds the best way to spread your money across 6 asset classes (stocks, bonds, gold, cash, etc.).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How it works: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  Uses proven Markowitz Mean-Variance math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  Respects real limits (Cash &gt;= 5%, no single asset &gt; 45%)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  Only trades when drift is significant (saves fees!)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  Adapts risk tolerance based on market conditions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4206240"/>
            <a:ext cx="50292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t>ENGINE 2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Safety Guardrails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E2E8F0"/>
                </a:solidFill>
                <a:latin typeface="Arial"/>
              </a:defRPr>
            </a:pPr>
            <a:r>
              <a:t>An independent watchdog that monitors tail risk every second and can OVERRIDE the optimizer.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4-tier graduated response: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34D399"/>
                </a:solidFill>
                <a:latin typeface="Arial"/>
              </a:defRPr>
            </a:pPr>
            <a:r>
              <a:t>  [MONITOR]  All safe. Let returns compound.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FBBF24"/>
                </a:solidFill>
                <a:latin typeface="Arial"/>
              </a:defRPr>
            </a:pPr>
            <a:r>
              <a:t>  [WARN]  Risk rising. Tighten sensitivity.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F87171"/>
                </a:solidFill>
                <a:latin typeface="Arial"/>
              </a:defRPr>
            </a:pPr>
            <a:r>
              <a:t>  [ACT]  Limit breached. Auto-shift to cash.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FFFFFF"/>
                </a:solidFill>
                <a:latin typeface="Arial"/>
              </a:defRPr>
            </a:pPr>
            <a:r>
              <a:t>  [CIRCUIT BREAK]  Crash! Emergency lockdown.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070080" y="4206240"/>
            <a:ext cx="50292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C084FC"/>
                </a:solidFill>
                <a:latin typeface="Arial"/>
              </a:defRPr>
            </a:pPr>
            <a:r>
              <a:t>ENGINE 3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The Transparency Layer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E2E8F0"/>
                </a:solidFill>
                <a:latin typeface="Arial"/>
              </a:defRPr>
            </a:pPr>
            <a:r>
              <a:t>Every automated decision is explained in plain English so risk managers actually trust the system.</a:t>
            </a:r>
          </a:p>
          <a:p>
            <a:pPr algn="l">
              <a:spcAft>
                <a:spcPts val="600"/>
              </a:spcAft>
              <a:defRPr sz="1300" b="1">
                <a:solidFill>
                  <a:srgbClr val="C084FC"/>
                </a:solidFill>
                <a:latin typeface="Arial"/>
              </a:defRPr>
            </a:pPr>
            <a:r>
              <a:t>What managers see: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  Live NAV chart with event markers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  Asset allocation donut with drift meters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  Risk gauges (VaR, CVaR, Drawdown, HHI)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  Plain-language decision audit trail</a:t>
            </a:r>
          </a:p>
          <a:p>
            <a:pPr algn="l">
              <a:spcAft>
                <a:spcPts val="5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  What-if scenario stress testing lab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3 : TECHNICAL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828800"/>
            <a:ext cx="3657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182880"/>
          <a:lstStyle/>
          <a:p>
            <a:pPr algn="ctr">
              <a:spcAft>
                <a:spcPts val="200"/>
              </a:spcAft>
              <a:defRPr sz="3600" b="1">
                <a:solidFill>
                  <a:srgbClr val="38BDF8"/>
                </a:solidFill>
                <a:latin typeface="Arial"/>
              </a:defRPr>
            </a:pPr>
            <a:r>
              <a:t>11.4 ms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Optimization Speed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828800"/>
            <a:ext cx="3657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182880"/>
          <a:lstStyle/>
          <a:p>
            <a:pPr algn="ctr">
              <a:spcAft>
                <a:spcPts val="200"/>
              </a:spcAft>
              <a:defRPr sz="3600" b="1">
                <a:solidFill>
                  <a:srgbClr val="34D399"/>
                </a:solidFill>
                <a:latin typeface="Arial"/>
              </a:defRPr>
            </a:pPr>
            <a:r>
              <a:t>&lt; 2 ms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Risk Check Speed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828800"/>
            <a:ext cx="3657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182880"/>
          <a:lstStyle/>
          <a:p>
            <a:pPr algn="ctr">
              <a:spcAft>
                <a:spcPts val="200"/>
              </a:spcAft>
              <a:defRPr sz="3600" b="1">
                <a:solidFill>
                  <a:srgbClr val="C084FC"/>
                </a:solidFill>
                <a:latin typeface="Arial"/>
              </a:defRPr>
            </a:pPr>
            <a:r>
              <a:t>40 / 40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Tests Passing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95960" y="1828800"/>
            <a:ext cx="3657600" cy="14630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182880"/>
          <a:lstStyle/>
          <a:p>
            <a:pPr algn="ctr">
              <a:spcAft>
                <a:spcPts val="200"/>
              </a:spcAft>
              <a:defRPr sz="3600" b="1">
                <a:solidFill>
                  <a:srgbClr val="FBBF24"/>
                </a:solidFill>
                <a:latin typeface="Arial"/>
              </a:defRPr>
            </a:pPr>
            <a:r>
              <a:t>0.25s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Full Test Suite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657600"/>
            <a:ext cx="7680960" cy="5669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THE MATH (SIMPLIFIED)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How We Optimize Capital Allocation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E2E8F0"/>
                </a:solidFill>
                <a:latin typeface="Arial"/>
              </a:defRPr>
            </a:pPr>
            <a:r>
              <a:t>Goal: Maximize returns while minimizing risk and trading costs.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Objective: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Maximize  [Expected Return - Risk Penalty - Trading Cost]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Constraints: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All money invested  |  Cash &gt;= 5%  |  No asset &gt; 45%  |  Turnover &lt;= 40%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Solver: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SLSQP (Sequential Quadratic Programming) with exact gradients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Risk Check: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CVaR 95% via rolling 60-day historical simulation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Smart Trigger: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Only rebalances when drift exceeds threshold (5% calm, 2% crisis)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3657600"/>
            <a:ext cx="7680960" cy="56692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t>TECH STACK &amp; ARCHITECTURE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Built for Speed and Reliability</a:t>
            </a:r>
          </a:p>
          <a:p>
            <a:pPr algn="l">
              <a:spcAft>
                <a:spcPts val="1000"/>
              </a:spcAft>
              <a:defRPr sz="1500" b="0">
                <a:solidFill>
                  <a:srgbClr val="E2E8F0"/>
                </a:solidFill>
                <a:latin typeface="Arial"/>
              </a:defRPr>
            </a:pPr>
            <a:r>
              <a:t>Everything runs locally with zero external API dependencies.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Backend: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Python 3.14 + FastAPI (async event loop)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Math Engine: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NumPy + SciPy (vectorized computations)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Market Sim: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Geometric Brownian Motion with Cholesky decomposition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Real-Time: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WebSocket streaming every 1.5 seconds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Frontend: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Vanilla HTML/CSS/JS + Chart.js (zero build step)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34D399"/>
                </a:solidFill>
                <a:latin typeface="Arial"/>
              </a:defRPr>
            </a:pPr>
            <a:r>
              <a:t>Testing:</a:t>
            </a:r>
          </a:p>
          <a:p>
            <a:pPr algn="l">
              <a:spcAft>
                <a:spcPts val="800"/>
              </a:spcAft>
              <a:defRPr sz="1350" b="0">
                <a:solidFill>
                  <a:srgbClr val="94A3B8"/>
                </a:solidFill>
                <a:latin typeface="Arial"/>
              </a:defRPr>
            </a:pPr>
            <a:r>
              <a:t>40 automated tests covering math, risk logic, and 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6136995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4 : HOW IT WORKS ? (USER FLOW)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828800"/>
            <a:ext cx="37947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 bIns="182880"/>
          <a:lstStyle/>
          <a:p>
            <a:pPr algn="l">
              <a:spcAft>
                <a:spcPts val="400"/>
              </a:spcAft>
              <a:defRPr sz="4000" b="1">
                <a:solidFill>
                  <a:srgbClr val="38BDF8"/>
                </a:solidFill>
                <a:latin typeface="Arial"/>
              </a:defRPr>
            </a:pPr>
            <a:r>
              <a:t>01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MARKET DATA IN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Every 1.5 seconds, correlated prices stream in across all 6 asset classes. Portfolio value updates instantly.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1828800"/>
            <a:ext cx="37947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 bIns="182880"/>
          <a:lstStyle/>
          <a:p>
            <a:pPr algn="l">
              <a:spcAft>
                <a:spcPts val="400"/>
              </a:spcAft>
              <a:defRPr sz="4000" b="1">
                <a:solidFill>
                  <a:srgbClr val="FBBF24"/>
                </a:solidFill>
                <a:latin typeface="Arial"/>
              </a:defRPr>
            </a:pPr>
            <a:r>
              <a:t>02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RISK HEALTH CHECK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Engine calculates VaR, CVaR, Drawdown, and Concentration in real time. Compares against safety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46336" y="1828800"/>
            <a:ext cx="37947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 bIns="182880"/>
          <a:lstStyle/>
          <a:p>
            <a:pPr algn="l">
              <a:spcAft>
                <a:spcPts val="400"/>
              </a:spcAft>
              <a:defRPr sz="4000" b="1">
                <a:solidFill>
                  <a:srgbClr val="F87171"/>
                </a:solidFill>
                <a:latin typeface="Arial"/>
              </a:defRPr>
            </a:pPr>
            <a:r>
              <a:t>03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SMART DECISION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If limits are safe: checks drift and rebalances only when needed.</a:t>
            </a:r>
            <a:br/>
            <a:r>
              <a:t>If limits breached: immediate protective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87984" y="1828800"/>
            <a:ext cx="37947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 bIns="182880"/>
          <a:lstStyle/>
          <a:p>
            <a:pPr algn="l">
              <a:spcAft>
                <a:spcPts val="400"/>
              </a:spcAft>
              <a:defRPr sz="4000" b="1">
                <a:solidFill>
                  <a:srgbClr val="34D399"/>
                </a:solidFill>
                <a:latin typeface="Arial"/>
              </a:defRPr>
            </a:pPr>
            <a:r>
              <a:t>04</a:t>
            </a:r>
          </a:p>
          <a:p>
            <a:pPr algn="l">
              <a:spcAft>
                <a:spcPts val="120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EXPLAIN &amp; DISPLAY</a:t>
            </a:r>
          </a:p>
          <a:p>
            <a:pPr algn="l">
              <a:spcAft>
                <a:spcPts val="12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Every action is logged in plain English. Live dashboard streams charts, gauges, and alerts to the risk manager.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7132320"/>
            <a:ext cx="15910559" cy="2560320"/>
          </a:xfrm>
          <a:prstGeom prst="round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800"/>
              </a:spcAft>
              <a:defRPr sz="1200" b="1">
                <a:solidFill>
                  <a:srgbClr val="C084FC"/>
                </a:solidFill>
                <a:latin typeface="Arial"/>
              </a:defRPr>
            </a:pPr>
            <a:r>
              <a:t>FROM THE RISK MANAGER'S PERSPECTIVE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Passive Monitoring: Just glance at the dashboard. Green badge = all safe. Yellow/Red = engine is already handling it.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Active Testing: Open the What-If Scenario Lab, simulate a -25% equity crash, and see exactly how the engine would respond.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Full Transparency: Every single automated trade has a plain-English explanation in the Decision Audit Log.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5 : PROJECT SNAPSHOTS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828800"/>
            <a:ext cx="7863840" cy="640080"/>
          </a:xfrm>
          <a:prstGeom prst="round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Live Dashboard with Active Simulation</a:t>
            </a:r>
          </a:p>
        </p:txBody>
      </p:sp>
      <p:pic>
        <p:nvPicPr>
          <p:cNvPr id="6" name="Picture 5" descr="ss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2468880"/>
            <a:ext cx="786384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9601200" y="1828800"/>
            <a:ext cx="7863840" cy="640080"/>
          </a:xfrm>
          <a:prstGeom prst="round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Market Stress Scenario (Crash Detection)</a:t>
            </a:r>
          </a:p>
        </p:txBody>
      </p:sp>
      <p:pic>
        <p:nvPicPr>
          <p:cNvPr id="8" name="Picture 7" descr="ss_st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2468880"/>
            <a:ext cx="7863840" cy="3200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1463040" y="5943600"/>
            <a:ext cx="7863840" cy="640080"/>
          </a:xfrm>
          <a:prstGeom prst="round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Decision Engine &amp; Risk Radar</a:t>
            </a:r>
          </a:p>
        </p:txBody>
      </p:sp>
      <p:pic>
        <p:nvPicPr>
          <p:cNvPr id="10" name="Picture 9" descr="ss_decis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3040" y="6583680"/>
            <a:ext cx="7863840" cy="32004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601200" y="5943600"/>
            <a:ext cx="7863840" cy="640080"/>
          </a:xfrm>
          <a:prstGeom prst="roundRect">
            <a:avLst/>
          </a:prstGeom>
          <a:solidFill>
            <a:srgbClr val="14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73152" bIns="73152"/>
          <a:lstStyle/>
          <a:p>
            <a:pPr algn="l">
              <a:spcAft>
                <a:spcPts val="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What-If Quantitative Stress Lab</a:t>
            </a:r>
          </a:p>
        </p:txBody>
      </p:sp>
      <p:pic>
        <p:nvPicPr>
          <p:cNvPr id="12" name="Picture 11" descr="ss_stressl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0" y="6583680"/>
            <a:ext cx="786384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7065580" cy="1203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50"/>
              </a:lnSpc>
            </a:pPr>
            <a:r>
              <a:rPr lang="en-US" sz="8500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6 : FEASIBILITY/VIABILITY AND IMPACT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828800"/>
            <a:ext cx="36576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182880"/>
          <a:lstStyle/>
          <a:p>
            <a:pPr algn="ctr">
              <a:spcAft>
                <a:spcPts val="200"/>
              </a:spcAft>
              <a:defRPr sz="3600" b="1">
                <a:solidFill>
                  <a:srgbClr val="34D399"/>
                </a:solidFill>
                <a:latin typeface="Arial"/>
              </a:defRPr>
            </a:pPr>
            <a:r>
              <a:t>70%+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Less Unnecessary</a:t>
            </a:r>
            <a:br/>
            <a:r>
              <a:t>Trading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40680" y="1828800"/>
            <a:ext cx="36576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182880"/>
          <a:lstStyle/>
          <a:p>
            <a:pPr algn="ctr">
              <a:spcAft>
                <a:spcPts val="200"/>
              </a:spcAft>
              <a:defRPr sz="3600" b="1">
                <a:solidFill>
                  <a:srgbClr val="38BDF8"/>
                </a:solidFill>
                <a:latin typeface="Arial"/>
              </a:defRPr>
            </a:pPr>
            <a:r>
              <a:t>&lt; 12ms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Crisis Response</a:t>
            </a:r>
            <a:br/>
            <a:r>
              <a:t>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1828800"/>
            <a:ext cx="36576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182880"/>
          <a:lstStyle/>
          <a:p>
            <a:pPr algn="ctr">
              <a:spcAft>
                <a:spcPts val="200"/>
              </a:spcAft>
              <a:defRPr sz="3600" b="1">
                <a:solidFill>
                  <a:srgbClr val="FBBF24"/>
                </a:solidFill>
                <a:latin typeface="Arial"/>
              </a:defRPr>
            </a:pPr>
            <a:r>
              <a:t>$0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External API</a:t>
            </a:r>
            <a:br/>
            <a:r>
              <a:t>Dependency Cost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395960" y="1828800"/>
            <a:ext cx="3657600" cy="1645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182880"/>
          <a:lstStyle/>
          <a:p>
            <a:pPr algn="ctr">
              <a:spcAft>
                <a:spcPts val="200"/>
              </a:spcAft>
              <a:defRPr sz="3600" b="1">
                <a:solidFill>
                  <a:srgbClr val="C084FC"/>
                </a:solidFill>
                <a:latin typeface="Arial"/>
              </a:defRPr>
            </a:pPr>
            <a:r>
              <a:t>100%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Automated Test</a:t>
            </a:r>
            <a:br/>
            <a:r>
              <a:t>Coverage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840480"/>
            <a:ext cx="50292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TECHNICAL FEASIBILITY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It Works. Right Now.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Full optimization converges in 11.4 milliseconds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Entire engine runs locally - no cloud dependency risk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40 automated tests verify every calculation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WebSocket streams real-time data to the browser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Live demo running at fortressfi.onrender.com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66560" y="3840480"/>
            <a:ext cx="50292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t>ECONOMIC VALUE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Real Cost Savings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Drift-based triggers cut 70%+ of unnecessary trades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Each avoided trade saves broker commissions &amp; slippage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Millisecond crash response prevents panic-driven losses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Replaces 30-minute emergency committee meetings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Protecting the worst 5% of market days boosts long-term returns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070080" y="3840480"/>
            <a:ext cx="502920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C084FC"/>
                </a:solidFill>
                <a:latin typeface="Arial"/>
              </a:defRPr>
            </a:pPr>
            <a:r>
              <a:t>WHO BENEFITS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Real-World Applications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Retail investors who want institutional-grade protection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Corporate treasuries managing cash reserves safely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Family offices balancing growth with capital preservation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WealthTech platforms adding automated risk features</a:t>
            </a:r>
          </a:p>
          <a:p>
            <a:pPr algn="l">
              <a:spcAft>
                <a:spcPts val="700"/>
              </a:spcAft>
              <a:defRPr sz="1400" b="0">
                <a:solidFill>
                  <a:srgbClr val="E2E8F0"/>
                </a:solidFill>
                <a:latin typeface="Arial"/>
              </a:defRPr>
            </a:pPr>
            <a:r>
              <a:t>  Anyone who wants to invest without losing sleep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469107" y="392252"/>
            <a:ext cx="13898868" cy="120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49"/>
              </a:lnSpc>
            </a:pPr>
            <a:r>
              <a:rPr lang="en-US" sz="8499" b="1" spc="-212">
                <a:solidFill>
                  <a:srgbClr val="FFFFFF"/>
                </a:solidFill>
                <a:latin typeface="Antonio Bold"/>
                <a:ea typeface="Antonio Bold"/>
                <a:cs typeface="Antonio Bold"/>
                <a:sym typeface="Antonio Bold"/>
              </a:rPr>
              <a:t>SLIDE 7 :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828800"/>
            <a:ext cx="76809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t>WHY FORTRESSFI WINS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Competitive Comparison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Traditional Fund Management: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F87171"/>
                </a:solidFill>
                <a:latin typeface="Arial"/>
              </a:defRPr>
            </a:pPr>
            <a:r>
              <a:t>  [-] Static monthly/quarterly rebalancing (too slow)</a:t>
            </a:r>
            <a:br/>
            <a:r>
              <a:t>  [-] No automated crash protection</a:t>
            </a:r>
            <a:br/>
            <a:r>
              <a:t>  [-] Delayed quarterly PDF reports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Generic Robo-Advisors:</a:t>
            </a:r>
          </a:p>
          <a:p>
            <a:pPr algn="l">
              <a:spcAft>
                <a:spcPts val="1000"/>
              </a:spcAft>
              <a:defRPr sz="1300" b="0">
                <a:solidFill>
                  <a:srgbClr val="F87171"/>
                </a:solidFill>
                <a:latin typeface="Arial"/>
              </a:defRPr>
            </a:pPr>
            <a:r>
              <a:t>  [-] One-time risk questionnaires (never adapt)</a:t>
            </a:r>
            <a:br/>
            <a:r>
              <a:t>  [-] High-frequency trading burns fees</a:t>
            </a:r>
            <a:br/>
            <a:r>
              <a:t>  [-] Opaque black-box decisions</a:t>
            </a:r>
          </a:p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FortressFi (Our Solution):</a:t>
            </a:r>
          </a:p>
          <a:p>
            <a:pPr algn="l">
              <a:spcAft>
                <a:spcPts val="0"/>
              </a:spcAft>
              <a:defRPr sz="1300" b="0">
                <a:solidFill>
                  <a:srgbClr val="34D399"/>
                </a:solidFill>
                <a:latin typeface="Arial"/>
              </a:defRPr>
            </a:pPr>
            <a:r>
              <a:t>  [+] Adaptive drift-gated execution (smart trading)</a:t>
            </a:r>
            <a:br/>
            <a:r>
              <a:t>  [+] 4-tier autonomous risk guardrails</a:t>
            </a:r>
            <a:br/>
            <a:r>
              <a:t>  [+] Plain-English explainable audit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828800"/>
            <a:ext cx="7680960" cy="50292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l">
              <a:spcAft>
                <a:spcPts val="400"/>
              </a:spcAft>
              <a:defRPr sz="1200" b="1">
                <a:solidFill>
                  <a:srgbClr val="38BDF8"/>
                </a:solidFill>
                <a:latin typeface="Arial"/>
              </a:defRPr>
            </a:pPr>
            <a:r>
              <a:t>ACADEMIC FOUNDATION &amp; LINKS</a:t>
            </a:r>
          </a:p>
          <a:p>
            <a:pPr algn="l">
              <a:spcAft>
                <a:spcPts val="1000"/>
              </a:spcAft>
              <a:defRPr sz="2200" b="1">
                <a:solidFill>
                  <a:srgbClr val="FFFFFF"/>
                </a:solidFill>
                <a:latin typeface="Arial"/>
              </a:defRPr>
            </a:pPr>
            <a:r>
              <a:t>Built on Proven Finance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Markowitz (1952)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'Portfolio Selection', Journal of Finance</a:t>
            </a:r>
            <a:br/>
            <a:r>
              <a:t>Foundation of Mean-Variance optimization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Rockafellar &amp; Uryasev (2000)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'Optimization of CVaR', Journal of Risk</a:t>
            </a:r>
            <a:br/>
            <a:r>
              <a:t>Tail risk measurement framework</a:t>
            </a:r>
          </a:p>
          <a:p>
            <a:pPr algn="l">
              <a:spcAft>
                <a:spcPts val="200"/>
              </a:spcAft>
              <a:defRPr sz="1400" b="1">
                <a:solidFill>
                  <a:srgbClr val="FFFFFF"/>
                </a:solidFill>
                <a:latin typeface="Arial"/>
              </a:defRPr>
            </a:pPr>
            <a:r>
              <a:t>Basel Committee FRTB (2019)</a:t>
            </a:r>
          </a:p>
          <a:p>
            <a:pPr algn="l">
              <a:spcAft>
                <a:spcPts val="1000"/>
              </a:spcAft>
              <a:defRPr sz="1200" b="0">
                <a:solidFill>
                  <a:srgbClr val="94A3B8"/>
                </a:solidFill>
                <a:latin typeface="Arial"/>
              </a:defRPr>
            </a:pPr>
            <a:r>
              <a:t>Global banking standard mandating</a:t>
            </a:r>
            <a:br/>
            <a:r>
              <a:t>Expected Shortfall for market risk</a:t>
            </a:r>
          </a:p>
          <a:p>
            <a:pPr algn="l">
              <a:spcAft>
                <a:spcPts val="600"/>
              </a:spcAft>
              <a:defRPr sz="1200" b="1">
                <a:solidFill>
                  <a:srgbClr val="34D399"/>
                </a:solidFill>
                <a:latin typeface="Arial"/>
              </a:defRPr>
            </a:pPr>
            <a:r>
              <a:t>PROJECT LINKS</a:t>
            </a:r>
          </a:p>
          <a:p>
            <a:pPr algn="l">
              <a:spcAft>
                <a:spcPts val="400"/>
              </a:spcAft>
              <a:defRPr sz="1300" b="1">
                <a:solidFill>
                  <a:srgbClr val="34D399"/>
                </a:solidFill>
                <a:latin typeface="Arial"/>
              </a:defRPr>
            </a:pPr>
            <a:r>
              <a:t>Live Demo:  https://fortressfi.onrender.com</a:t>
            </a:r>
          </a:p>
          <a:p>
            <a:pPr algn="l">
              <a:spcAft>
                <a:spcPts val="0"/>
              </a:spcAft>
              <a:defRPr sz="1300" b="1">
                <a:solidFill>
                  <a:srgbClr val="38BDF8"/>
                </a:solidFill>
                <a:latin typeface="Arial"/>
              </a:defRPr>
            </a:pPr>
            <a:r>
              <a:t>GitHub:  github.com/tarun05-design/FortressFi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7223760"/>
            <a:ext cx="15727680" cy="2286000"/>
          </a:xfrm>
          <a:prstGeom prst="roundRect">
            <a:avLst/>
          </a:prstGeom>
          <a:solidFill>
            <a:srgbClr val="141E32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 bIns="182880"/>
          <a:lstStyle/>
          <a:p>
            <a:pPr algn="ctr">
              <a:spcAft>
                <a:spcPts val="400"/>
              </a:spcAft>
              <a:defRPr sz="1800" b="0">
                <a:solidFill>
                  <a:srgbClr val="E2E8F0"/>
                </a:solidFill>
                <a:latin typeface="Arial"/>
              </a:defRPr>
            </a:pPr>
            <a:r>
              <a:t>"FortressFi doesn't just theorize about risk control.</a:t>
            </a:r>
          </a:p>
          <a:p>
            <a:pPr algn="ctr">
              <a:spcAft>
                <a:spcPts val="400"/>
              </a:spcAft>
              <a:defRPr sz="1800" b="0">
                <a:solidFill>
                  <a:srgbClr val="E2E8F0"/>
                </a:solidFill>
                <a:latin typeface="Arial"/>
              </a:defRPr>
            </a:pPr>
            <a:r>
              <a:t>It implements a working, mathematically sound, fully tested engine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E2E8F0"/>
                </a:solidFill>
                <a:latin typeface="Arial"/>
              </a:defRPr>
            </a:pPr>
            <a:r>
              <a:t>that solves the hackathon challenge end-to-end."</a:t>
            </a:r>
          </a:p>
          <a:p>
            <a:pPr algn="ctr">
              <a:spcAft>
                <a:spcPts val="0"/>
              </a:spcAft>
              <a:defRPr sz="1300" b="0">
                <a:solidFill>
                  <a:srgbClr val="94A3B8"/>
                </a:solidFill>
                <a:latin typeface="Arial"/>
              </a:defRPr>
            </a:pPr>
            <a:r>
              <a:t>Built with care for Init'26 FinTech Hackathon at MPSTME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58</Words>
  <Application>Microsoft Office PowerPoint</Application>
  <PresentationFormat>Custom</PresentationFormat>
  <Paragraphs>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Poppins Bold</vt:lpstr>
      <vt:lpstr>Antonio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FOSS Workshop (1980 x 1080 px)</dc:title>
  <dc:creator>Prathamesh</dc:creator>
  <cp:lastModifiedBy>Prathamesh Mahadik</cp:lastModifiedBy>
  <cp:revision>2</cp:revision>
  <dcterms:created xsi:type="dcterms:W3CDTF">2006-08-16T00:00:00Z</dcterms:created>
  <dcterms:modified xsi:type="dcterms:W3CDTF">2026-09-05T09:24:28Z</dcterms:modified>
  <dc:identifier>DAHRPhLBNzY</dc:identifier>
</cp:coreProperties>
</file>