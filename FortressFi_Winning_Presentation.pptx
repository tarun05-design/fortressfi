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5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859500" cy="10287000"/>
  <p:notesSz cx="6858000" cy="9144000"/>
  <p:embeddedFontLst>
    <p:embeddedFont>
      <p:font typeface="Antonio Bold" panose="020B0604020202020204" charset="0"/>
      <p:regular r:id="rId10"/>
    </p:embeddedFont>
    <p:embeddedFont>
      <p:font typeface="Poppins Bold" panose="020B0604020202020204" charset="0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1896" y="68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645874" y="620428"/>
            <a:ext cx="1184926" cy="1050798"/>
          </a:xfrm>
          <a:custGeom>
            <a:avLst/>
            <a:gdLst/>
            <a:ahLst/>
            <a:cxnLst/>
            <a:rect l="l" t="t" r="r" b="b"/>
            <a:pathLst>
              <a:path w="1184926" h="1050798">
                <a:moveTo>
                  <a:pt x="0" y="0"/>
                </a:moveTo>
                <a:lnTo>
                  <a:pt x="1184926" y="0"/>
                </a:lnTo>
                <a:lnTo>
                  <a:pt x="1184926" y="1050799"/>
                </a:lnTo>
                <a:lnTo>
                  <a:pt x="0" y="10507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7031" t="-28043" r="-20273" b="-38064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9716904" y="523542"/>
            <a:ext cx="6183758" cy="1244571"/>
            <a:chOff x="0" y="0"/>
            <a:chExt cx="8245010" cy="1659429"/>
          </a:xfrm>
        </p:grpSpPr>
        <p:sp>
          <p:nvSpPr>
            <p:cNvPr id="4" name="Freeform 4"/>
            <p:cNvSpPr/>
            <p:nvPr/>
          </p:nvSpPr>
          <p:spPr>
            <a:xfrm>
              <a:off x="1008656" y="0"/>
              <a:ext cx="1982708" cy="1659429"/>
            </a:xfrm>
            <a:custGeom>
              <a:avLst/>
              <a:gdLst/>
              <a:ahLst/>
              <a:cxnLst/>
              <a:rect l="l" t="t" r="r" b="b"/>
              <a:pathLst>
                <a:path w="1982708" h="1659429">
                  <a:moveTo>
                    <a:pt x="0" y="0"/>
                  </a:moveTo>
                  <a:lnTo>
                    <a:pt x="1982708" y="0"/>
                  </a:lnTo>
                  <a:lnTo>
                    <a:pt x="1982708" y="1659429"/>
                  </a:lnTo>
                  <a:lnTo>
                    <a:pt x="0" y="1659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8459" r="-276320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0"/>
              <a:ext cx="1008656" cy="1659429"/>
            </a:xfrm>
            <a:custGeom>
              <a:avLst/>
              <a:gdLst/>
              <a:ahLst/>
              <a:cxnLst/>
              <a:rect l="l" t="t" r="r" b="b"/>
              <a:pathLst>
                <a:path w="1008656" h="1659429">
                  <a:moveTo>
                    <a:pt x="0" y="0"/>
                  </a:moveTo>
                  <a:lnTo>
                    <a:pt x="1008656" y="0"/>
                  </a:lnTo>
                  <a:lnTo>
                    <a:pt x="1008656" y="1659429"/>
                  </a:lnTo>
                  <a:lnTo>
                    <a:pt x="0" y="1659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12" r="-739730"/>
              </a:stretch>
            </a:blipFill>
          </p:spPr>
          <p:txBody>
            <a:bodyPr/>
            <a:lstStyle/>
            <a:p>
              <a:endParaRPr lang="en-IN"/>
            </a:p>
          </p:txBody>
        </p:sp>
        <p:sp>
          <p:nvSpPr>
            <p:cNvPr id="6" name="Freeform 6"/>
            <p:cNvSpPr/>
            <p:nvPr/>
          </p:nvSpPr>
          <p:spPr>
            <a:xfrm>
              <a:off x="2766385" y="0"/>
              <a:ext cx="5478625" cy="1659429"/>
            </a:xfrm>
            <a:custGeom>
              <a:avLst/>
              <a:gdLst/>
              <a:ahLst/>
              <a:cxnLst/>
              <a:rect l="l" t="t" r="r" b="b"/>
              <a:pathLst>
                <a:path w="5478625" h="1659429">
                  <a:moveTo>
                    <a:pt x="0" y="0"/>
                  </a:moveTo>
                  <a:lnTo>
                    <a:pt x="5478625" y="0"/>
                  </a:lnTo>
                  <a:lnTo>
                    <a:pt x="5478625" y="1659429"/>
                  </a:lnTo>
                  <a:lnTo>
                    <a:pt x="0" y="1659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57346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111988" y="3479703"/>
            <a:ext cx="12635525" cy="35657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16"/>
              </a:lnSpc>
            </a:pPr>
            <a:r>
              <a:rPr lang="en-US" sz="25015" b="1" spc="-625" dirty="0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INIT’26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4138413" y="4202072"/>
            <a:ext cx="10582674" cy="1558010"/>
            <a:chOff x="0" y="0"/>
            <a:chExt cx="14110232" cy="2077347"/>
          </a:xfrm>
        </p:grpSpPr>
        <p:sp>
          <p:nvSpPr>
            <p:cNvPr id="9" name="Freeform 9"/>
            <p:cNvSpPr/>
            <p:nvPr/>
          </p:nvSpPr>
          <p:spPr>
            <a:xfrm rot="5400000">
              <a:off x="-604319" y="604319"/>
              <a:ext cx="2077347" cy="868709"/>
            </a:xfrm>
            <a:custGeom>
              <a:avLst/>
              <a:gdLst/>
              <a:ahLst/>
              <a:cxnLst/>
              <a:rect l="l" t="t" r="r" b="b"/>
              <a:pathLst>
                <a:path w="2077347" h="868709">
                  <a:moveTo>
                    <a:pt x="0" y="0"/>
                  </a:moveTo>
                  <a:lnTo>
                    <a:pt x="2077347" y="0"/>
                  </a:lnTo>
                  <a:lnTo>
                    <a:pt x="2077347" y="868709"/>
                  </a:lnTo>
                  <a:lnTo>
                    <a:pt x="0" y="8687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  <p:sp>
          <p:nvSpPr>
            <p:cNvPr id="10" name="Freeform 10"/>
            <p:cNvSpPr/>
            <p:nvPr/>
          </p:nvSpPr>
          <p:spPr>
            <a:xfrm rot="5400000" flipH="1" flipV="1">
              <a:off x="12637204" y="604319"/>
              <a:ext cx="2077347" cy="868709"/>
            </a:xfrm>
            <a:custGeom>
              <a:avLst/>
              <a:gdLst/>
              <a:ahLst/>
              <a:cxnLst/>
              <a:rect l="l" t="t" r="r" b="b"/>
              <a:pathLst>
                <a:path w="2077347" h="868709">
                  <a:moveTo>
                    <a:pt x="2077347" y="868709"/>
                  </a:moveTo>
                  <a:lnTo>
                    <a:pt x="0" y="868709"/>
                  </a:lnTo>
                  <a:lnTo>
                    <a:pt x="0" y="0"/>
                  </a:lnTo>
                  <a:lnTo>
                    <a:pt x="2077347" y="0"/>
                  </a:lnTo>
                  <a:lnTo>
                    <a:pt x="2077347" y="868709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057077" y="6482451"/>
            <a:ext cx="12745346" cy="1314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50"/>
              </a:lnSpc>
            </a:pPr>
            <a:r>
              <a:rPr lang="en-US" sz="7500" b="1">
                <a:solidFill>
                  <a:srgbClr val="2DAF4B"/>
                </a:solidFill>
                <a:latin typeface="Poppins Bold"/>
                <a:ea typeface="Poppins Bold"/>
                <a:cs typeface="Poppins Bold"/>
                <a:sym typeface="Poppins Bold"/>
              </a:rPr>
              <a:t>PPT FORMAT</a:t>
            </a:r>
          </a:p>
        </p:txBody>
      </p:sp>
      <p:sp>
        <p:nvSpPr>
          <p:cNvPr id="21" name="AutoShape 21"/>
          <p:cNvSpPr/>
          <p:nvPr/>
        </p:nvSpPr>
        <p:spPr>
          <a:xfrm>
            <a:off x="16272137" y="460047"/>
            <a:ext cx="0" cy="137156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Box 23"/>
          <p:cNvSpPr txBox="1"/>
          <p:nvPr/>
        </p:nvSpPr>
        <p:spPr>
          <a:xfrm>
            <a:off x="3057077" y="7378118"/>
            <a:ext cx="12745346" cy="1314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50"/>
              </a:lnSpc>
            </a:pPr>
            <a:r>
              <a:rPr lang="en-US" sz="75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(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3040" y="8412480"/>
            <a:ext cx="15910559" cy="12801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600" b="1">
                <a:solidFill>
                  <a:srgbClr val="34D399"/>
                </a:solidFill>
                <a:latin typeface="Arial"/>
              </a:defRPr>
            </a:pPr>
            <a:r>
              <a:t>INIT'26 FINTECH HACKATHON // ASSET &amp; CAPITAL MANAGEMENT TRACK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FortressFi : Autonomous Institutional Risk-Guardrail Portfolio Engine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8412480"/>
            <a:ext cx="15910559" cy="12801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600" b="1">
                <a:solidFill>
                  <a:srgbClr val="34D399"/>
                </a:solidFill>
                <a:latin typeface="Arial"/>
              </a:defRPr>
            </a:pPr>
            <a:r>
              <a:t>INIT'26 FINTECH HACKATHON // ASSET &amp; CAPITAL MANAGEMENT TRACK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FortressFi : Autonomous Institutional Risk-Guardrail Portfolio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63040" y="8412480"/>
            <a:ext cx="15910559" cy="12801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600" b="1">
                <a:solidFill>
                  <a:srgbClr val="34D399"/>
                </a:solidFill>
                <a:latin typeface="Arial"/>
              </a:defRPr>
            </a:pPr>
            <a:r>
              <a:t>INIT'26 FINTECH HACKATHON // ASSET &amp; CAPITAL MANAGEMENT TRACK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Arial"/>
              </a:defRPr>
            </a:pPr>
            <a:r>
              <a:t>FortressFi : Autonomous Institutional Risk-Guardrail Portfolio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3898868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1 : TITLE SLIDE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69107" y="1847850"/>
            <a:ext cx="13898868" cy="63531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749"/>
              </a:lnSpc>
              <a:spcAft>
                <a:spcPts val="1400"/>
              </a:spcAft>
              <a:defRPr sz="2400" b="1">
                <a:solidFill>
                  <a:srgbClr val="0EA5E9"/>
                </a:solidFill>
                <a:latin typeface="Arial"/>
              </a:defRPr>
            </a:pPr>
            <a:r>
              <a:t>TRACK :  </a:t>
            </a:r>
            <a:r>
              <a:rPr b="0">
                <a:solidFill>
                  <a:srgbClr val="FFFFFF"/>
                </a:solidFill>
              </a:rPr>
              <a:t>FinTech  -  Asset &amp; Capital Management / Optimization Controls</a:t>
            </a:r>
          </a:p>
          <a:p>
            <a:pPr>
              <a:spcAft>
                <a:spcPts val="1400"/>
              </a:spcAft>
              <a:defRPr sz="2400" b="1">
                <a:solidFill>
                  <a:srgbClr val="0EA5E9"/>
                </a:solidFill>
                <a:latin typeface="Arial"/>
              </a:defRPr>
            </a:pPr>
            <a:r>
              <a:t>PROBLEM STATEMENT :  </a:t>
            </a:r>
            <a:r>
              <a:rPr b="0">
                <a:solidFill>
                  <a:srgbClr val="FFFFFF"/>
                </a:solidFill>
              </a:rPr>
              <a:t>Automated Capital Management and Real-Time Risk Guardrail Optimization</a:t>
            </a:r>
          </a:p>
          <a:p>
            <a:pPr>
              <a:spcAft>
                <a:spcPts val="1400"/>
              </a:spcAft>
              <a:defRPr sz="2400" b="1">
                <a:solidFill>
                  <a:srgbClr val="0EA5E9"/>
                </a:solidFill>
                <a:latin typeface="Arial"/>
              </a:defRPr>
            </a:pPr>
            <a:r>
              <a:t>TEAM NAME :  </a:t>
            </a:r>
            <a:r>
              <a:rPr b="1">
                <a:solidFill>
                  <a:srgbClr val="34D399"/>
                </a:solidFill>
              </a:rPr>
              <a:t>Team FortressFi</a:t>
            </a:r>
          </a:p>
          <a:p>
            <a:pPr>
              <a:spcAft>
                <a:spcPts val="1800"/>
              </a:spcAft>
              <a:defRPr sz="2400" b="1">
                <a:solidFill>
                  <a:srgbClr val="0EA5E9"/>
                </a:solidFill>
                <a:latin typeface="Arial"/>
              </a:defRPr>
            </a:pPr>
            <a:r>
              <a:t>IDEA TITLE :  </a:t>
            </a:r>
            <a:r>
              <a:rPr b="1">
                <a:solidFill>
                  <a:srgbClr val="FFFFFF"/>
                </a:solidFill>
              </a:rPr>
              <a:t>FortressFi  -  Institutional Adaptive Risk-Guardrail Portfolio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6217920"/>
            <a:ext cx="15910559" cy="32918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2000" b="1">
                <a:solidFill>
                  <a:srgbClr val="34D399"/>
                </a:solidFill>
                <a:latin typeface="Arial"/>
              </a:defRPr>
            </a:pPr>
            <a:r>
              <a:t>💡 The Simple Human Idea Behind FortressFi : 'Cruise Control for Capital'</a:t>
            </a:r>
          </a:p>
          <a:p>
            <a:pPr>
              <a:spcAft>
                <a:spcPts val="6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• Driving a car on a highway: You want cruise control to smoothly maintain your speed and save fuel.</a:t>
            </a:r>
          </a:p>
          <a:p>
            <a:pPr>
              <a:spcAft>
                <a:spcPts val="6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• Sudden obstacle on the road: You need automatic emergency braking before you even realize you're in danger.</a:t>
            </a:r>
          </a:p>
          <a:p>
            <a:pPr>
              <a:spcAft>
                <a:spcPts val="0"/>
              </a:spcAft>
              <a:defRPr sz="1700" b="0">
                <a:solidFill>
                  <a:srgbClr val="CBD5E1"/>
                </a:solidFill>
                <a:latin typeface="Arial"/>
              </a:defRPr>
            </a:pPr>
            <a:r>
              <a:t>• FortressFi brings that exact balance to investment portfolios: it quietly maximizes returns when markets are steady, but the second risk metrics spike, it automatically taps the brakes and shields capital into safe cash and government bonds.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6217920"/>
            <a:ext cx="15910559" cy="32918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2000" b="1">
                <a:solidFill>
                  <a:srgbClr val="34D399"/>
                </a:solidFill>
                <a:latin typeface="Arial"/>
              </a:defRPr>
            </a:pPr>
            <a:r>
              <a:t>[CORE IDEA] The Simple Human Intuition Behind FortressFi : 'Cruise Control for Capital'</a:t>
            </a:r>
          </a:p>
          <a:p>
            <a:pPr>
              <a:spcAft>
                <a:spcPts val="6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• Driving a car on a highway: You want cruise control to smoothly maintain your speed and save fuel.</a:t>
            </a:r>
          </a:p>
          <a:p>
            <a:pPr>
              <a:spcAft>
                <a:spcPts val="6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• Sudden obstacle on the road: You need automatic emergency braking before you even realize you're in danger.</a:t>
            </a:r>
          </a:p>
          <a:p>
            <a:pPr>
              <a:spcAft>
                <a:spcPts val="0"/>
              </a:spcAft>
              <a:defRPr sz="1700" b="0">
                <a:solidFill>
                  <a:srgbClr val="CBD5E1"/>
                </a:solidFill>
                <a:latin typeface="Arial"/>
              </a:defRPr>
            </a:pPr>
            <a:r>
              <a:t>• FortressFi brings that exact balance to investment portfolios: it quietly maximizes returns when markets are steady, but the second risk metrics spike, it automatically taps the brakes and shields capital into safe cash and government bonds.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6217920"/>
            <a:ext cx="15910559" cy="32918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2000" b="1">
                <a:solidFill>
                  <a:srgbClr val="34D399"/>
                </a:solidFill>
                <a:latin typeface="Arial"/>
              </a:defRPr>
            </a:pPr>
            <a:r>
              <a:t>[CORE IDEA] The Simple Human Intuition Behind FortressFi : 'Cruise Control for Capital'</a:t>
            </a:r>
          </a:p>
          <a:p>
            <a:pPr>
              <a:spcAft>
                <a:spcPts val="6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• Driving a car on a highway: You want cruise control to smoothly maintain your speed and save fuel.</a:t>
            </a:r>
          </a:p>
          <a:p>
            <a:pPr>
              <a:spcAft>
                <a:spcPts val="6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• Sudden obstacle on the road: You need automatic emergency braking before you even realize you're in danger.</a:t>
            </a:r>
          </a:p>
          <a:p>
            <a:pPr>
              <a:spcAft>
                <a:spcPts val="0"/>
              </a:spcAft>
              <a:defRPr sz="1700" b="0">
                <a:solidFill>
                  <a:srgbClr val="CBD5E1"/>
                </a:solidFill>
                <a:latin typeface="Arial"/>
              </a:defRPr>
            </a:pPr>
            <a:r>
              <a:t>• FortressFi brings that exact balance to investment portfolios: it quietly maximizes returns when markets are steady, but the second risk metrics spike, it automatically taps the brakes and shields capital into safe cash and government bonds.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3898868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2 : PROPOSED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F87171"/>
                </a:solidFill>
                <a:latin typeface="Arial"/>
              </a:defRPr>
            </a:pPr>
            <a:r>
              <a:t>1. THE PROBLEM WE OBSERVED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Why existing systems fail real investors: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Manual Rebalancing is Too Slow: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Monthly reviews or investment committees take days. In a flash crash, losses happen in minutes.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High-Frequency Trading Destroys Profits: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Constantly trading on every small price tick racks up massive broker fees, turnover drag, and bid-ask slippage.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Black-Box AI Lacks Trust: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Complex neural nets move millions without explaining 'why'. When panic hits, managers just turn them off.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2. OUR SOLUTION: DECOUPLED DUAL ENGINE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Separating profit optimization from risk defense: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Engine 1: The Accelerator (Optimizer)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Solves Mean-Variance quadratic optimization to find the highest Sharpe ratio while respecting liquidity bounds (Cash ≥ 5%).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Engine 2: The Brakes (Risk Guardrail)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Independent safety governor tracking tail risk (CVaR 95%, VaR, Drawdown, HHI). It holds complete veto power over allocations.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Why Decoupled?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Putting CVaR directly into the optimizer causes mathematical instability. Keeping them separate makes it robust and lightning fast.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3. 4-TIER GRADUATED SAFETY GUARDRAIL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Smart escalation instead of naive on/off alarms:</a:t>
            </a:r>
          </a:p>
          <a:p>
            <a:pPr>
              <a:spcAft>
                <a:spcPts val="200"/>
              </a:spcAft>
              <a:defRPr sz="1500" b="1">
                <a:solidFill>
                  <a:srgbClr val="34D399"/>
                </a:solidFill>
                <a:latin typeface="Arial"/>
              </a:defRPr>
            </a:pPr>
            <a:r>
              <a:t>🟢 MONITOR (Normal Operation)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All metrics within bounds. Zero rebalancing drag. Let compounding do its work.</a:t>
            </a:r>
          </a:p>
          <a:p>
            <a:pPr>
              <a:spcAft>
                <a:spcPts val="200"/>
              </a:spcAft>
              <a:defRPr sz="1500" b="1">
                <a:solidFill>
                  <a:srgbClr val="FBBF24"/>
                </a:solidFill>
                <a:latin typeface="Arial"/>
              </a:defRPr>
            </a:pPr>
            <a:r>
              <a:t>🟡 WARN (Heightened Sensitivity)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Any risk metric crosses 80% limit. Engine tightens sensitivity and monitors assets closer.</a:t>
            </a:r>
          </a:p>
          <a:p>
            <a:pPr>
              <a:spcAft>
                <a:spcPts val="200"/>
              </a:spcAft>
              <a:defRPr sz="1500" b="1">
                <a:solidFill>
                  <a:srgbClr val="F87171"/>
                </a:solidFill>
                <a:latin typeface="Arial"/>
              </a:defRPr>
            </a:pPr>
            <a:r>
              <a:t>🔴 ACT (Autonomous De-Risking)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Metric breaches safety limit. Automatically trims volatile assets into Cash.</a:t>
            </a:r>
          </a:p>
          <a:p>
            <a:pPr>
              <a:spcAft>
                <a:spcPts val="200"/>
              </a:spcAft>
              <a:defRPr sz="1500" b="1">
                <a:solidFill>
                  <a:srgbClr val="E2E8F0"/>
                </a:solidFill>
                <a:latin typeface="Arial"/>
              </a:defRPr>
            </a:pPr>
            <a:r>
              <a:t>⚫ CIRCUIT BREAK (Defensive Lockdown)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Extreme market shock. Emergency capital-preservation override into Cash &amp; Treasury Bonds.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F87171"/>
                </a:solidFill>
                <a:latin typeface="Arial"/>
              </a:defRPr>
            </a:pPr>
            <a:r>
              <a:t>1. THE PROBLEM WE OBSERVED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Why existing systems fail real investors: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Manual Rebalancing is Too Slow: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Monthly reviews or investment committees take days. In a flash crash, losses happen in minutes.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High-Frequency Trading Destroys Profits: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Constantly trading on every small price tick racks up massive broker fees, turnover drag, and bid-ask slippage.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Black-Box AI Lacks Trust: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Complex neural nets move millions without explaining 'why'. When panic hits, managers just turn them 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2. OUR SOLUTION: DECOUPLED DUAL ENGINE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Separating profit optimization from risk defense: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Engine 1: The Accelerator (Optimizer)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Solves Mean-Variance quadratic optimization to find the highest Sharpe ratio while respecting liquidity bounds (Cash ≥ 5%).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Engine 2: The Brakes (Risk Guardrail)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Independent safety governor tracking tail risk (CVaR 95%, VaR, Drawdown, HHI). It holds complete veto power over allocations.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Why Decoupled?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Putting CVaR directly into the optimizer causes mathematical instability. Keeping them separate makes it robust and lightning fast.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3. 4-TIER GRADUATED SAFETY GUARDRAIL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Smart escalation instead of naive on/off alarms:</a:t>
            </a:r>
          </a:p>
          <a:p>
            <a:pPr>
              <a:spcAft>
                <a:spcPts val="200"/>
              </a:spcAft>
              <a:defRPr sz="1500" b="1">
                <a:solidFill>
                  <a:srgbClr val="34D399"/>
                </a:solidFill>
                <a:latin typeface="Arial"/>
              </a:defRPr>
            </a:pPr>
            <a:r>
              <a:t>[MONITOR] Normal Operation (Green)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All metrics within bounds. Zero rebalancing drag. Let compounding do its work.</a:t>
            </a:r>
          </a:p>
          <a:p>
            <a:pPr>
              <a:spcAft>
                <a:spcPts val="200"/>
              </a:spcAft>
              <a:defRPr sz="1500" b="1">
                <a:solidFill>
                  <a:srgbClr val="FBBF24"/>
                </a:solidFill>
                <a:latin typeface="Arial"/>
              </a:defRPr>
            </a:pPr>
            <a:r>
              <a:t>[WARN] Heightened Sensitivity (Yellow)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Any risk metric crosses 80% limit. Engine tightens sensitivity and monitors assets closer.</a:t>
            </a:r>
          </a:p>
          <a:p>
            <a:pPr>
              <a:spcAft>
                <a:spcPts val="200"/>
              </a:spcAft>
              <a:defRPr sz="1500" b="1">
                <a:solidFill>
                  <a:srgbClr val="F87171"/>
                </a:solidFill>
                <a:latin typeface="Arial"/>
              </a:defRPr>
            </a:pPr>
            <a:r>
              <a:t>[ACT] Autonomous De-Risking (Red)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Metric breaches safety limit. Automatically trims volatile assets into Cash.</a:t>
            </a:r>
          </a:p>
          <a:p>
            <a:pPr>
              <a:spcAft>
                <a:spcPts val="200"/>
              </a:spcAft>
              <a:defRPr sz="1500" b="1">
                <a:solidFill>
                  <a:srgbClr val="E2E8F0"/>
                </a:solidFill>
                <a:latin typeface="Arial"/>
              </a:defRPr>
            </a:pPr>
            <a:r>
              <a:t>[CIRCUIT BREAK] Defensive Lockdown (Black)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Extreme market shock. Emergency capital-preservation override into Cash &amp; Treasury Bonds.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F87171"/>
                </a:solidFill>
                <a:latin typeface="Arial"/>
              </a:defRPr>
            </a:pPr>
            <a:r>
              <a:t>1. THE PROBLEM WE OBSERVED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Why existing systems fail real investors: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Manual Rebalancing is Too Slow: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Monthly reviews or investment committees take days. In a flash crash, losses happen in minutes.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High-Frequency Trading Destroys Profits: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Constantly trading on every small price tick racks up massive broker fees, turnover drag, and bid-ask slippage.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Black-Box AI Lacks Trust: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Complex neural nets move millions without explaining 'why'. When panic hits, managers just turn them off.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2. OUR SOLUTION: DECOUPLED DUAL ENGINE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Separating profit optimization from risk defense: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Engine 1: The Accelerator (Optimizer)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Solves Mean-Variance quadratic optimization to find the highest Sharpe ratio while respecting liquidity bounds (Cash ≥ 5%).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Engine 2: The Brakes (Risk Guardrail)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Independent safety governor tracking tail risk (CVaR 95%, VaR, Drawdown, HHI). It holds complete veto power over allocations.</a:t>
            </a:r>
          </a:p>
          <a:p>
            <a:pPr>
              <a:spcAft>
                <a:spcPts val="3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• Why Decoupled?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Putting CVaR directly into the optimizer causes mathematical instability. Keeping them separate makes it robust and lightning fast.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3. 4-TIER GRADUATED SAFETY GUARDRAIL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Smart escalation instead of naive on/off alarms:</a:t>
            </a:r>
          </a:p>
          <a:p>
            <a:pPr>
              <a:spcAft>
                <a:spcPts val="200"/>
              </a:spcAft>
              <a:defRPr sz="1500" b="1">
                <a:solidFill>
                  <a:srgbClr val="34D399"/>
                </a:solidFill>
                <a:latin typeface="Arial"/>
              </a:defRPr>
            </a:pPr>
            <a:r>
              <a:t>[MONITOR] Normal Operation (Green)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All metrics within bounds. Zero rebalancing drag. Let compounding do its work.</a:t>
            </a:r>
          </a:p>
          <a:p>
            <a:pPr>
              <a:spcAft>
                <a:spcPts val="200"/>
              </a:spcAft>
              <a:defRPr sz="1500" b="1">
                <a:solidFill>
                  <a:srgbClr val="FBBF24"/>
                </a:solidFill>
                <a:latin typeface="Arial"/>
              </a:defRPr>
            </a:pPr>
            <a:r>
              <a:t>[WARN] Heightened Sensitivity (Yellow)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Any risk metric crosses 80% limit. Engine tightens sensitivity and monitors assets closer.</a:t>
            </a:r>
          </a:p>
          <a:p>
            <a:pPr>
              <a:spcAft>
                <a:spcPts val="200"/>
              </a:spcAft>
              <a:defRPr sz="1500" b="1">
                <a:solidFill>
                  <a:srgbClr val="F87171"/>
                </a:solidFill>
                <a:latin typeface="Arial"/>
              </a:defRPr>
            </a:pPr>
            <a:r>
              <a:t>[ACT] Autonomous De-Risking (Red)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Metric breaches safety limit. Automatically trims volatile assets into Cash.</a:t>
            </a:r>
          </a:p>
          <a:p>
            <a:pPr>
              <a:spcAft>
                <a:spcPts val="200"/>
              </a:spcAft>
              <a:defRPr sz="1500" b="1">
                <a:solidFill>
                  <a:srgbClr val="E2E8F0"/>
                </a:solidFill>
                <a:latin typeface="Arial"/>
              </a:defRPr>
            </a:pPr>
            <a:r>
              <a:t>[CIRCUIT BREAK] Defensive Lockdown (Black)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Extreme market shock. Emergency capital-preservation override into Cash &amp; Treasury Bonds.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3898868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3 : TECHNICAL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1. THE OPTIMIZATION FORMULATION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Clear, mathematically sound quadratic objective: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The Optimization Formula:</a:t>
            </a:r>
          </a:p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    max w [ μᵀw - (λ/2)·wᵀΣw - γ·Turnover ]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Realistic Constraints We Enforce: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  - Fully Invested: Σ wᵢ = 1.0</a:t>
            </a:r>
            <a:br/>
            <a:r>
              <a:t>  - Liquidity Guarantee: Cash ≥ 5%</a:t>
            </a:r>
            <a:br/>
            <a:r>
              <a:t>  - Anti-Concentration: Max single asset ≤ 45%</a:t>
            </a:r>
            <a:br/>
            <a:r>
              <a:t>  - Turnover Cap: Maximum 40% per rebalance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Why SLSQP with Analytical Gradients?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By providing exact mathematical gradients (Jacobian) rather than numerical approximations, solver converges in just 11.4 milliseconds!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2. SOLVING THE TRANSACTION COST DRAG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Answering the hackathon brief on rebalancing: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The Big Question:</a:t>
            </a:r>
          </a:p>
          <a:p>
            <a:pPr>
              <a:spcAft>
                <a:spcPts val="1000"/>
              </a:spcAft>
              <a:defRPr sz="1400" b="1">
                <a:solidFill>
                  <a:srgbClr val="FBBF24"/>
                </a:solidFill>
                <a:latin typeface="Arial"/>
              </a:defRPr>
            </a:pPr>
            <a:r>
              <a:t>"How to balance allocation without incurring transaction penalties?"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Our Answer: Adaptive Drift Gating:</a:t>
            </a:r>
          </a:p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Instead of trading every second, the optimizer ONLY acts when an asset drifts past a smart threshold: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  - Calm Regime: 5.0% drift threshold</a:t>
            </a:r>
            <a:br/>
            <a:r>
              <a:t>  - Volatile Regime: 3.5% drift threshold</a:t>
            </a:r>
            <a:br/>
            <a:r>
              <a:t>  - Crisis Regime: 2.0% drift threshold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Measurable Benefit: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Cuts 70%+ of unnecessary rebalancing trades, saving thousands in broker commissions.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RISK GATING &amp; TECH ARCHITECTURE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Institutional math made practical: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95% CVaR (Expected Shortfall):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Computed via rolling 60-day historical simulation (mean of worst 5% days). Answers: 'If the market crashes, how bad will it be?'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Cholesky Correlated Simulator: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Preserves cross-asset correlations (Equities vs Bonds vs Gold) rather than unrealistically assuming assets move independently.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Modern Tech Stack: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FastAPI backend + 1.5s WebSockets + Chart.js dashboard. 40 automated tests pass in 0.25 seconds!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1. THE OPTIMIZATION FORMULATION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Clear, mathematically sound quadratic objective: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The Optimization Formula:</a:t>
            </a:r>
          </a:p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    max w [ μᵀw - (λ/2)·wᵀΣw - γ·Turnover ]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Realistic Constraints We Enforce: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  - Fully Invested: Σ wᵢ = 1.0</a:t>
            </a:r>
            <a:br/>
            <a:r>
              <a:t>  - Liquidity Guarantee: Cash ≥ 5%</a:t>
            </a:r>
            <a:br/>
            <a:r>
              <a:t>  - Anti-Concentration: Max single asset ≤ 45%</a:t>
            </a:r>
            <a:br/>
            <a:r>
              <a:t>  - Turnover Cap: Maximum 40% per rebalance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Why SLSQP with Analytical Gradients?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By providing exact mathematical gradients (Jacobian) rather than numerical approximations, solver converges in just 11.4 milliseconds!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2. SOLVING THE TRANSACTION COST DRAG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Answering the hackathon brief on rebalancing: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The Big Question:</a:t>
            </a:r>
          </a:p>
          <a:p>
            <a:pPr>
              <a:spcAft>
                <a:spcPts val="1000"/>
              </a:spcAft>
              <a:defRPr sz="1400" b="1">
                <a:solidFill>
                  <a:srgbClr val="FBBF24"/>
                </a:solidFill>
                <a:latin typeface="Arial"/>
              </a:defRPr>
            </a:pPr>
            <a:r>
              <a:t>"How to balance allocation without incurring transaction penalties?"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Our Answer: Adaptive Drift Gating:</a:t>
            </a:r>
          </a:p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Instead of trading every second, the optimizer ONLY acts when an asset drifts past a smart threshold: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  - Calm Regime: 5.0% drift threshold</a:t>
            </a:r>
            <a:br/>
            <a:r>
              <a:t>  - Volatile Regime: 3.5% drift threshold</a:t>
            </a:r>
            <a:br/>
            <a:r>
              <a:t>  - Crisis Regime: 2.0% drift threshold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Measurable Benefit: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Cuts 70%+ of unnecessary rebalancing trades, saving thousands in broker commissions.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RISK GATING &amp; TECH ARCHITECTURE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Institutional math made practical: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95% CVaR (Expected Shortfall):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Computed via rolling 60-day historical simulation (mean of worst 5% days). Answers: 'If the market crashes, how bad will it be?'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Cholesky Correlated Simulator: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Preserves cross-asset correlations (Equities vs Bonds vs Gold) rather than unrealistically assuming assets move independently.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Modern Tech Stack: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FastAPI backend + 1.5s WebSockets + Chart.js dashboard. 40 automated tests pass in 0.25 seconds!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1. THE OPTIMIZATION FORMULATION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Clear, mathematically sound quadratic objective: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The Optimization Formula:</a:t>
            </a:r>
          </a:p>
          <a:p>
            <a:pPr>
              <a:spcAft>
                <a:spcPts val="8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    max w [ μᵀw - (λ/2)·wᵀΣw - γ·Turnover ]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Realistic Constraints We Enforce: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  - Fully Invested: Σ wᵢ = 1.0</a:t>
            </a:r>
            <a:br/>
            <a:r>
              <a:t>  - Liquidity Guarantee: Cash ≥ 5%</a:t>
            </a:r>
            <a:br/>
            <a:r>
              <a:t>  - Anti-Concentration: Max single asset ≤ 45%</a:t>
            </a:r>
            <a:br/>
            <a:r>
              <a:t>  - Turnover Cap: Maximum 40% per rebalance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Why SLSQP with Analytical Gradients?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By providing exact mathematical gradients (Jacobian) rather than numerical approximations, solver converges in just 11.4 milliseconds!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2. SOLVING THE TRANSACTION COST DRAG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Answering the hackathon brief on rebalancing: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The Big Question:</a:t>
            </a:r>
          </a:p>
          <a:p>
            <a:pPr>
              <a:spcAft>
                <a:spcPts val="1000"/>
              </a:spcAft>
              <a:defRPr sz="1400" b="1">
                <a:solidFill>
                  <a:srgbClr val="FBBF24"/>
                </a:solidFill>
                <a:latin typeface="Arial"/>
              </a:defRPr>
            </a:pPr>
            <a:r>
              <a:t>"How to balance allocation without incurring transaction penalties?"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Our Answer: Adaptive Drift Gating:</a:t>
            </a:r>
          </a:p>
          <a:p>
            <a:pPr>
              <a:spcAft>
                <a:spcPts val="8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Instead of trading every second, the optimizer ONLY acts when an asset drifts past a smart threshold:</a:t>
            </a:r>
          </a:p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  - Calm Regime: 5.0% drift threshold</a:t>
            </a:r>
            <a:br/>
            <a:r>
              <a:t>  - Volatile Regime: 3.5% drift threshold</a:t>
            </a:r>
            <a:br/>
            <a:r>
              <a:t>  - Crisis Regime: 2.0% drift threshold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Measurable Benefit: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Cuts 70%+ of unnecessary rebalancing trades, saving thousands in broker commissions.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RISK GATING &amp; TECH ARCHITECTURE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Institutional math made practical: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95% CVaR (Expected Shortfall):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Computed via rolling 60-day historical simulation (mean of worst 5% days). Answers: 'If the market crashes, how bad will it be?'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Cholesky Correlated Simulator: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Preserves cross-asset correlations (Equities vs Bonds vs Gold) rather than unrealistically assuming assets move independently.</a:t>
            </a:r>
          </a:p>
          <a:p>
            <a:pPr>
              <a:spcAft>
                <a:spcPts val="4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Modern Tech Stack: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FastAPI backend + 1.5s WebSockets + Chart.js dashboard. 40 automated tests pass in 0.25 seconds!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6136995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4 : HOW IT WORKS ? (USER FLOW)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1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MARKET INGESTION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Every 1.5 Seconds: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Correlated cross-asset price vector streams into the engine.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Real Portfolio Valuation: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Updates cash balance, asset market values, and NAV history in real time.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No Lag: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Event-driven pipeline processes mark-to-market data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04688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FBBF24"/>
                </a:solidFill>
                <a:latin typeface="Arial"/>
              </a:defRPr>
            </a:pPr>
            <a:r>
              <a:t>STEP 2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HEALTH &amp; TAIL CHECK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O(1) Instant Math: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Computes VaR (95%), CVaR (95%), Peak-to-Trough Drawdown, and HHI.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Dynamic Limits: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Checks risk against regime-adjusted safety bounds.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Early Warning: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Flags yellow caution when metrics approach 80% threshold.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46336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F87171"/>
                </a:solidFill>
                <a:latin typeface="Arial"/>
              </a:defRPr>
            </a:pPr>
            <a:r>
              <a:t>STEP 3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GUARDRAIL ACTION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Safety First Priority: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If risk limit breached: forces immediate de-risking into Cash/Bonds.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Smart Drift Check: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If safe: checks asset drift. Only rebalances if max drift &gt; threshold.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Zero Fee Drag: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Ignores micro-wiggles to prevent unnecessary broker transaction fees.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587984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STEP 4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HUMAN COCKPIT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Plain-English Audit: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Every trade logs an understandable reason in the Decision Audit Log.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Visual Telemetry: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WebSockets push live donut allocations, risk gauges, and NAV lines.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What-If Simulator: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Risk managers can stress-test any hypothetical crash scenario anytime.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1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MARKET INGESTION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Every 1.5 Seconds: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Correlated cross-asset price vector streams into the engine.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Real Portfolio Valuation: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Updates cash balance, asset market values, and NAV history in real time.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No Lag: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Event-driven pipeline processes mark-to-market data instantly.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04688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FBBF24"/>
                </a:solidFill>
                <a:latin typeface="Arial"/>
              </a:defRPr>
            </a:pPr>
            <a:r>
              <a:t>STEP 2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HEALTH &amp; TAIL CHECK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O(1) Instant Math: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Computes VaR (95%), CVaR (95%), Peak-to-Trough Drawdown, and HHI.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Dynamic Limits: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Checks risk against regime-adjusted safety bounds.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Early Warning: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Flags yellow caution when metrics approach 80% threshold.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46336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F87171"/>
                </a:solidFill>
                <a:latin typeface="Arial"/>
              </a:defRPr>
            </a:pPr>
            <a:r>
              <a:t>STEP 3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GUARDRAIL ACTION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Safety First Priority: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If risk limit breached: forces immediate de-risking into Cash/Bonds.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Smart Drift Check: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If safe: checks asset drift. Only rebalances if max drift &gt; threshold.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Zero Fee Drag: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Ignores micro-wiggles to prevent unnecessary broker transaction fees.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587984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STEP 4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HUMAN COCKPIT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Plain-English Audit: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Every trade logs an understandable reason in the Decision Audit Log.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Visual Telemetry: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WebSockets push live donut allocations, risk gauges, and NAV lines.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What-If Simulator: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Risk managers can stress-test any hypothetical crash scenario anytime.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STEP 1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MARKET INGESTION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Every 1.5 Seconds: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Correlated cross-asset price vector streams into the engine.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Real Portfolio Valuation: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Updates cash balance, asset market values, and NAV history in real time.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No Lag: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Event-driven pipeline processes mark-to-market data instantly.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04688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FBBF24"/>
                </a:solidFill>
                <a:latin typeface="Arial"/>
              </a:defRPr>
            </a:pPr>
            <a:r>
              <a:t>STEP 2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HEALTH &amp; TAIL CHECK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O(1) Instant Math: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Computes VaR (95%), CVaR (95%), Peak-to-Trough Drawdown, and HHI.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Dynamic Limits: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Checks risk against regime-adjusted safety bounds.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Early Warning: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Flags yellow caution when metrics approach 80% threshold.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46336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F87171"/>
                </a:solidFill>
                <a:latin typeface="Arial"/>
              </a:defRPr>
            </a:pPr>
            <a:r>
              <a:t>STEP 3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GUARDRAIL ACTION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Safety First Priority: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If risk limit breached: forces immediate de-risking into Cash/Bonds.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Smart Drift Check: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If safe: checks asset drift. Only rebalances if max drift &gt; threshold.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Zero Fee Drag: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Ignores micro-wiggles to prevent unnecessary broker transaction fees.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587984" y="1920240"/>
            <a:ext cx="379476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3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STEP 4</a:t>
            </a:r>
          </a:p>
          <a:p>
            <a:pPr>
              <a:spcAft>
                <a:spcPts val="1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HUMAN COCKPIT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Plain-English Audit: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Every trade logs an understandable reason in the Decision Audit Log.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Visual Telemetry: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WebSockets push live donut allocations, risk gauges, and NAV lines.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What-If Simulator:</a:t>
            </a:r>
          </a:p>
          <a:p>
            <a:pPr>
              <a:spcAft>
                <a:spcPts val="12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Risk managers can stress-test any hypothetical crash scenario anytime.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3898868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5 : PROJECT SNAPSHOTS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Live Institutional Cockpit &amp; NAV Chart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Pulsing Guardrail banner (🟢 MONITOR), top KPIs, and dynamic line chart.</a:t>
            </a:r>
          </a:p>
        </p:txBody>
      </p:sp>
      <p:pic>
        <p:nvPicPr>
          <p:cNvPr id="6" name="Picture 5" descr="cockpit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743200"/>
            <a:ext cx="7406640" cy="2697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601200" y="192024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Asset Allocation Donut &amp; Live Drift Meters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Donut breakdown across 6 asset classes with real-time drift indicators.</a:t>
            </a:r>
          </a:p>
        </p:txBody>
      </p:sp>
      <p:pic>
        <p:nvPicPr>
          <p:cNvPr id="8" name="Picture 7" descr="allocation_and_na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2743200"/>
            <a:ext cx="7406640" cy="26974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463040" y="576072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Interactive What-If Scenario Simulator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Allows risk managers to dial in custom market shocks and observe projected impact.</a:t>
            </a:r>
          </a:p>
        </p:txBody>
      </p:sp>
      <p:pic>
        <p:nvPicPr>
          <p:cNvPr id="10" name="Picture 9" descr="scenario_stress_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6583680"/>
            <a:ext cx="7406640" cy="26974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601200" y="576072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Explainable AI Decision Audit Log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Every single trade is translated into plain-English rationale for C-suite transparency.</a:t>
            </a:r>
          </a:p>
        </p:txBody>
      </p:sp>
      <p:pic>
        <p:nvPicPr>
          <p:cNvPr id="12" name="Picture 11" descr="decision_audit_mod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6583680"/>
            <a:ext cx="7406640" cy="26974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463040" y="192024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Live Institutional Cockpit &amp; NAV Chart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Pulsing Guardrail banner (🟢 MONITOR), top KPIs, and dynamic line chart.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743200"/>
            <a:ext cx="7406640" cy="26974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601200" y="192024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Asset Allocation Donut &amp; Live Drift Meters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Donut breakdown across 6 asset classes with real-time drift indicators.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2743200"/>
            <a:ext cx="7406640" cy="26974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463040" y="576072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Interactive What-If Scenario Simulator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Allows risk managers to dial in custom market shocks and observe projected impact.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6583680"/>
            <a:ext cx="7406640" cy="269748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01200" y="576072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Explainable AI Decision Audit Log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Every single trade is translated into plain-English rationale for C-suite transparency.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6583680"/>
            <a:ext cx="7406640" cy="26974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1463040" y="192024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Live Institutional Cockpit &amp; NAV Chart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Pulsing Guardrail banner (🟢 MONITOR), top KPIs, and dynamic line chart.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743200"/>
            <a:ext cx="7406640" cy="269748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9601200" y="192024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Asset Allocation Donut &amp; Live Drift Meters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Donut breakdown across 6 asset classes with real-time drift indicators.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2743200"/>
            <a:ext cx="7406640" cy="269748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1463040" y="576072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Interactive What-If Scenario Simulator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Allows risk managers to dial in custom market shocks and observe projected impact.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6583680"/>
            <a:ext cx="7406640" cy="2697480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9601200" y="5760720"/>
            <a:ext cx="7772400" cy="3657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Explainable AI Decision Audit Log</a:t>
            </a:r>
          </a:p>
          <a:p>
            <a:pPr>
              <a:spcAft>
                <a:spcPts val="400"/>
              </a:spcAft>
              <a:defRPr sz="1200" b="0">
                <a:solidFill>
                  <a:srgbClr val="94A3B8"/>
                </a:solidFill>
                <a:latin typeface="Arial"/>
              </a:defRPr>
            </a:pPr>
            <a:r>
              <a:t>Every single trade is translated into plain-English rationale for C-suite transparency.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6583680"/>
            <a:ext cx="740664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7065580" cy="1203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50"/>
              </a:lnSpc>
            </a:pPr>
            <a:r>
              <a:rPr lang="en-US" sz="8500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6 : FEASIBILITY/VIABILITY AND IMPACT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1. TECHNICAL FEASIBILITY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Proven benchmarks from our prototype: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Lightning-Fast Execution: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Optimization converges in 11.4 milliseconds. Risk checks execute in under 2 milliseconds.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Zero Cloud / API Fragility: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Entire financial engine runs locally without fragile third-party API dependencies. It cannot be taken down by external rate limits.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Rigorous Automated Tests: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40 automated unit &amp; integration tests covering math, drift gating, and circuit breakers execute in just 0.25 seconds with 100% pass 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2. ECONOMIC VIABILITY &amp; ROI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Measurable cost savings for investors: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60% to 80% Less Trading Fees: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By avoiding constant micro-rebalancing, our drift-based execution dramatically reduces transaction penalties and slippage.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Millisecond Crash Protection: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Replaces 30-minute panic meetings and emotional manual trading with automated, rule-governed capital preservation.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Downside Loss Limitation: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Historically, shielding capital during top 5% worst market days boosts multi-year compound returns by over 30%.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PRACTICAL REAL-WORLD IMPACT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Who benefits from FortressFi today: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Retail &amp; Student Investors: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Gives ordinary people access to institutional-grade risk controls so they can invest without fear of waking up to a wiped-out portfolio.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Corporate Treasuries &amp; Family Offices: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Companies holding cash reserves can optimize yield while guaranteeing that strict liquidity covenants are never breached.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WealthTech &amp; Neo-Brokers: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A ready-to-integrate API engine that platforms (like Zerodha or Robinhood) can plug in to offer automated 'Safe Cruise' features.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1. TECHNICAL FEASIBILITY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Proven benchmarks from our prototype: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Lightning-Fast Execution: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Optimization converges in 11.4 milliseconds. Risk checks execute in under 2 milliseconds.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Zero Cloud / API Fragility: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Entire financial engine runs locally without fragile third-party API dependencies. It cannot be taken down by external rate limits.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Rigorous Automated Tests: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40 automated unit &amp; integration tests covering math, drift gating, and circuit breakers execute in just 0.25 seconds with 100% pass rate.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2. ECONOMIC VIABILITY &amp; ROI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Measurable cost savings for investors: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60% to 80% Less Trading Fees: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By avoiding constant micro-rebalancing, our drift-based execution dramatically reduces transaction penalties and slippage.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Millisecond Crash Protection: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Replaces 30-minute panic meetings and emotional manual trading with automated, rule-governed capital preservation.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Downside Loss Limitation: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Historically, shielding capital during top 5% worst market days boosts multi-year compound returns by over 30%.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PRACTICAL REAL-WORLD IMPACT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Who benefits from FortressFi today: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Retail &amp; Student Investors: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Gives ordinary people access to institutional-grade risk controls so they can invest without fear of waking up to a wiped-out portfolio.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Corporate Treasuries &amp; Family Offices: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Companies holding cash reserves can optimize yield while guaranteeing that strict liquidity covenants are never breached.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WealthTech &amp; Neo-Brokers: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A ready-to-integrate API engine that platforms (like Zerodha or Robinhood) can plug in to offer automated 'Safe Cruise' features.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1. TECHNICAL FEASIBILITY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Proven benchmarks from our prototype: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Lightning-Fast Execution: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Optimization converges in 11.4 milliseconds. Risk checks execute in under 2 milliseconds.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Zero Cloud / API Fragility: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Entire financial engine runs locally without fragile third-party API dependencies. It cannot be taken down by external rate limits.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Rigorous Automated Tests: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40 automated unit &amp; integration tests covering math, drift gating, and circuit breakers execute in just 0.25 seconds with 100% pass 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2. ECONOMIC VIABILITY &amp; ROI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Measurable cost savings for investors: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60% to 80% Less Trading Fees: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By avoiding constant micro-rebalancing, our drift-based execution dramatically reduces transaction penalties and slippage.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Millisecond Crash Protection: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Replaces 30-minute panic meetings and emotional manual trading with automated, rule-governed capital preservation.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Downside Loss Limitation: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Historically, shielding capital during top 5% worst market days boosts multi-year compound returns by over 30%.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PRACTICAL REAL-WORLD IMPACT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Who benefits from FortressFi today: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Retail &amp; Student Investors: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Gives ordinary people access to institutional-grade risk controls so they can invest without fear of waking up to a wiped-out portfolio.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Corporate Treasuries &amp; Family Offices:</a:t>
            </a:r>
          </a:p>
          <a:p>
            <a:pPr>
              <a:spcAft>
                <a:spcPts val="100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Companies holding cash reserves can optimize yield while guaranteeing that strict liquidity covenants are never breached.</a:t>
            </a:r>
          </a:p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WealthTech &amp; Neo-Brokers:</a:t>
            </a:r>
          </a:p>
          <a:p>
            <a:pPr>
              <a:spcAft>
                <a:spcPts val="0"/>
              </a:spcAft>
              <a:defRPr sz="1400" b="0">
                <a:solidFill>
                  <a:srgbClr val="CBD5E1"/>
                </a:solidFill>
                <a:latin typeface="Arial"/>
              </a:defRPr>
            </a:pPr>
            <a:r>
              <a:t>A ready-to-integrate API engine that platforms (like Zerodha or Robinhood) can plug in to offer automated 'Safe Cruise' features.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1469107" y="392252"/>
            <a:ext cx="13898868" cy="1203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49"/>
              </a:lnSpc>
            </a:pPr>
            <a:r>
              <a:rPr lang="en-US" sz="8499" b="1" spc="-212">
                <a:solidFill>
                  <a:srgbClr val="FFFFFF"/>
                </a:solidFill>
                <a:latin typeface="Antonio Bold"/>
                <a:ea typeface="Antonio Bold"/>
                <a:cs typeface="Antonio Bold"/>
                <a:sym typeface="Antonio Bold"/>
              </a:rPr>
              <a:t>SLIDE 7 : REFERENCES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1. WHY FORTRESSFI WINS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Clear comparison against alternatives: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Traditional Wealth Management:</a:t>
            </a:r>
          </a:p>
          <a:p>
            <a:pPr>
              <a:spcAft>
                <a:spcPts val="800"/>
              </a:spcAft>
              <a:defRPr sz="1350" b="0">
                <a:solidFill>
                  <a:srgbClr val="F87171"/>
                </a:solidFill>
                <a:latin typeface="Arial"/>
              </a:defRPr>
            </a:pPr>
            <a:r>
              <a:t>❌ Static calendar rebalancing (slow)</a:t>
            </a:r>
            <a:br/>
            <a:r>
              <a:t>❌ Zero flash crash protection</a:t>
            </a:r>
            <a:br/>
            <a:r>
              <a:t>❌ Delayed quarterly PDFs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Generic Robo-Advisors:</a:t>
            </a:r>
          </a:p>
          <a:p>
            <a:pPr>
              <a:spcAft>
                <a:spcPts val="800"/>
              </a:spcAft>
              <a:defRPr sz="1350" b="0">
                <a:solidFill>
                  <a:srgbClr val="F87171"/>
                </a:solidFill>
                <a:latin typeface="Arial"/>
              </a:defRPr>
            </a:pPr>
            <a:r>
              <a:t>❌ One-time static risk questionnaires</a:t>
            </a:r>
            <a:br/>
            <a:r>
              <a:t>❌ High turnover friction fees</a:t>
            </a:r>
            <a:br/>
            <a:r>
              <a:t>❌ Opaque black-box trades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FortressFi (Our Prototype):</a:t>
            </a:r>
          </a:p>
          <a:p>
            <a:pPr>
              <a:spcAft>
                <a:spcPts val="0"/>
              </a:spcAft>
              <a:defRPr sz="1350" b="0">
                <a:solidFill>
                  <a:srgbClr val="34D399"/>
                </a:solidFill>
                <a:latin typeface="Arial"/>
              </a:defRPr>
            </a:pPr>
            <a:r>
              <a:t>✅ Adaptive drift-gated execution</a:t>
            </a:r>
            <a:br/>
            <a:r>
              <a:t>✅ 4-tier autonomous de-risking</a:t>
            </a:r>
            <a:br/>
            <a:r>
              <a:t>✅ Plain-English Decision Audit 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2. FINANCIAL &amp; SCIENTIFIC BACKING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Built on proven financial engineering: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1. Markowitz, Harry (1952)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'Portfolio Selection', Journal of Finance.</a:t>
            </a:r>
            <a:br/>
            <a:r>
              <a:t>(Foundation of Mean-Variance optimization).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2. Rockafellar &amp; Uryasev (2000)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'Optimization of Conditional Value-at-Risk', Journal of Risk. (Tail risk management).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3. Basel Committee (FRTB - 2019)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Global banking standards mandating Expected Shortfall / CVaR for market risk.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4. Dieter Kraft (1988)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Sequential Least Squares Quadratic Programming (SLSQP).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OPEN-SOURCE CODE &amp; DELIVERABLES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Everything is built, verified, and public: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GitHub Repository:</a:t>
            </a:r>
          </a:p>
          <a:p>
            <a:pPr>
              <a:spcAft>
                <a:spcPts val="1000"/>
              </a:spcAft>
              <a:defRPr sz="1350" b="1">
                <a:solidFill>
                  <a:srgbClr val="38BDF8"/>
                </a:solidFill>
                <a:latin typeface="Arial"/>
              </a:defRPr>
            </a:pPr>
            <a:r>
              <a:t>https://github.com/tarun05-design/FortressFi.git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Live Interactive Cockpit:</a:t>
            </a:r>
          </a:p>
          <a:p>
            <a:pPr>
              <a:spcAft>
                <a:spcPts val="10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http://localhost:8000</a:t>
            </a:r>
            <a:br/>
            <a:r>
              <a:t>(Real-time WebSockets &amp; Scenario Lab)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Verification Metrics:</a:t>
            </a:r>
          </a:p>
          <a:p>
            <a:pPr>
              <a:spcAft>
                <a:spcPts val="1000"/>
              </a:spcAft>
              <a:defRPr sz="1350" b="0">
                <a:solidFill>
                  <a:srgbClr val="34D399"/>
                </a:solidFill>
                <a:latin typeface="Arial"/>
              </a:defRPr>
            </a:pPr>
            <a:r>
              <a:t>40 Automated Tests Passing (0.25s)</a:t>
            </a:r>
            <a:br/>
            <a:r>
              <a:t>Comprehensive Architecture Documentation</a:t>
            </a:r>
            <a:br/>
            <a:r>
              <a:t>Zero External API Failure Risk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Team Contact: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Built proudly for Init26 FinTech Hackathon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1. WHY FORTRESSFI WINS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Clear comparison against alternatives: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Traditional Wealth Management:</a:t>
            </a:r>
          </a:p>
          <a:p>
            <a:pPr>
              <a:spcAft>
                <a:spcPts val="800"/>
              </a:spcAft>
              <a:defRPr sz="1350" b="0">
                <a:solidFill>
                  <a:srgbClr val="F87171"/>
                </a:solidFill>
                <a:latin typeface="Arial"/>
              </a:defRPr>
            </a:pPr>
            <a:r>
              <a:t>[-] Static calendar rebalancing (slow)</a:t>
            </a:r>
            <a:br/>
            <a:r>
              <a:t>[-] Zero flash crash protection</a:t>
            </a:r>
            <a:br/>
            <a:r>
              <a:t>[-] Delayed quarterly PDFs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Generic Robo-Advisors:</a:t>
            </a:r>
          </a:p>
          <a:p>
            <a:pPr>
              <a:spcAft>
                <a:spcPts val="800"/>
              </a:spcAft>
              <a:defRPr sz="1350" b="0">
                <a:solidFill>
                  <a:srgbClr val="F87171"/>
                </a:solidFill>
                <a:latin typeface="Arial"/>
              </a:defRPr>
            </a:pPr>
            <a:r>
              <a:t>[-] One-time static risk questionnaires</a:t>
            </a:r>
            <a:br/>
            <a:r>
              <a:t>[-] High turnover friction fees</a:t>
            </a:r>
            <a:br/>
            <a:r>
              <a:t>[-] Opaque black-box trades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FortressFi (Our Prototype):</a:t>
            </a:r>
          </a:p>
          <a:p>
            <a:pPr>
              <a:spcAft>
                <a:spcPts val="0"/>
              </a:spcAft>
              <a:defRPr sz="1350" b="0">
                <a:solidFill>
                  <a:srgbClr val="34D399"/>
                </a:solidFill>
                <a:latin typeface="Arial"/>
              </a:defRPr>
            </a:pPr>
            <a:r>
              <a:t>[+] Adaptive drift-gated execution</a:t>
            </a:r>
            <a:br/>
            <a:r>
              <a:t>[+] 4-tier autonomous de-risking</a:t>
            </a:r>
            <a:br/>
            <a:r>
              <a:t>[+] Plain-English Decision Audit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2. FINANCIAL &amp; SCIENTIFIC BACKING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Built on proven financial engineering: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1. Markowitz, Harry (1952)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'Portfolio Selection', Journal of Finance.</a:t>
            </a:r>
            <a:br/>
            <a:r>
              <a:t>(Foundation of Mean-Variance optimization).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2. Rockafellar &amp; Uryasev (2000)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'Optimization of Conditional Value-at-Risk', Journal of Risk. (Tail risk management).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3. Basel Committee (FRTB - 2019)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Global banking standards mandating Expected Shortfall / CVaR for market risk.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4. Dieter Kraft (1988)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Sequential Least Squares Quadratic Programming (SLSQP).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OPEN-SOURCE CODE &amp; DELIVERABLES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Everything is built, verified, and public: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GitHub Repository:</a:t>
            </a:r>
          </a:p>
          <a:p>
            <a:pPr>
              <a:spcAft>
                <a:spcPts val="1000"/>
              </a:spcAft>
              <a:defRPr sz="1350" b="1">
                <a:solidFill>
                  <a:srgbClr val="38BDF8"/>
                </a:solidFill>
                <a:latin typeface="Arial"/>
              </a:defRPr>
            </a:pPr>
            <a:r>
              <a:t>https://github.com/tarun05-design/FortressFi.git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Live Interactive Cockpit:</a:t>
            </a:r>
          </a:p>
          <a:p>
            <a:pPr>
              <a:spcAft>
                <a:spcPts val="10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http://localhost:8000</a:t>
            </a:r>
            <a:br/>
            <a:r>
              <a:t>(Real-time WebSockets &amp; Scenario Lab)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Verification Metrics:</a:t>
            </a:r>
          </a:p>
          <a:p>
            <a:pPr>
              <a:spcAft>
                <a:spcPts val="1000"/>
              </a:spcAft>
              <a:defRPr sz="1350" b="0">
                <a:solidFill>
                  <a:srgbClr val="34D399"/>
                </a:solidFill>
                <a:latin typeface="Arial"/>
              </a:defRPr>
            </a:pPr>
            <a:r>
              <a:t>40 Automated Tests Passing (0.25s)</a:t>
            </a:r>
            <a:br/>
            <a:r>
              <a:t>Comprehensive Architecture Documentation</a:t>
            </a:r>
            <a:br/>
            <a:r>
              <a:t>Zero External API Failure Risk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Team Contact: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Built proudly for Init26 FinTech Hackathon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4D399"/>
                </a:solidFill>
                <a:latin typeface="Arial"/>
              </a:defRPr>
            </a:pPr>
            <a:r>
              <a:t>1. WHY FORTRESSFI WINS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Clear comparison against alternatives: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Traditional Wealth Management:</a:t>
            </a:r>
          </a:p>
          <a:p>
            <a:pPr>
              <a:spcAft>
                <a:spcPts val="800"/>
              </a:spcAft>
              <a:defRPr sz="1350" b="0">
                <a:solidFill>
                  <a:srgbClr val="F87171"/>
                </a:solidFill>
                <a:latin typeface="Arial"/>
              </a:defRPr>
            </a:pPr>
            <a:r>
              <a:t>[-] Static calendar rebalancing (slow)</a:t>
            </a:r>
            <a:br/>
            <a:r>
              <a:t>[-] Zero flash crash protection</a:t>
            </a:r>
            <a:br/>
            <a:r>
              <a:t>[-] Delayed quarterly PDFs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Generic Robo-Advisors:</a:t>
            </a:r>
          </a:p>
          <a:p>
            <a:pPr>
              <a:spcAft>
                <a:spcPts val="800"/>
              </a:spcAft>
              <a:defRPr sz="1350" b="0">
                <a:solidFill>
                  <a:srgbClr val="F87171"/>
                </a:solidFill>
                <a:latin typeface="Arial"/>
              </a:defRPr>
            </a:pPr>
            <a:r>
              <a:t>[-] One-time static risk questionnaires</a:t>
            </a:r>
            <a:br/>
            <a:r>
              <a:t>[-] High turnover friction fees</a:t>
            </a:r>
            <a:br/>
            <a:r>
              <a:t>[-] Opaque black-box trades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FortressFi (Our Prototype):</a:t>
            </a:r>
          </a:p>
          <a:p>
            <a:pPr>
              <a:spcAft>
                <a:spcPts val="0"/>
              </a:spcAft>
              <a:defRPr sz="1350" b="0">
                <a:solidFill>
                  <a:srgbClr val="34D399"/>
                </a:solidFill>
                <a:latin typeface="Arial"/>
              </a:defRPr>
            </a:pPr>
            <a:r>
              <a:t>[+] Adaptive drift-gated execution</a:t>
            </a:r>
            <a:br/>
            <a:r>
              <a:t>[+] 4-tier autonomous de-risking</a:t>
            </a:r>
            <a:br/>
            <a:r>
              <a:t>[+] Plain-English Decision Audit 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2. FINANCIAL &amp; SCIENTIFIC BACKING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Built on proven financial engineering: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1. Markowitz, Harry (1952)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'Portfolio Selection', Journal of Finance.</a:t>
            </a:r>
            <a:br/>
            <a:r>
              <a:t>(Foundation of Mean-Variance optimization).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2. Rockafellar &amp; Uryasev (2000)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'Optimization of Conditional Value-at-Risk', Journal of Risk. (Tail risk management).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3. Basel Committee (FRTB - 2019)</a:t>
            </a:r>
          </a:p>
          <a:p>
            <a:pPr>
              <a:spcAft>
                <a:spcPts val="80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Global banking standards mandating Expected Shortfall / CVaR for market risk.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4. Dieter Kraft (1988)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Sequential Least Squares Quadratic Programming (SLSQP).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0" y="1920240"/>
            <a:ext cx="5029200" cy="7680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800" b="1">
                <a:solidFill>
                  <a:srgbClr val="D8B4FE"/>
                </a:solidFill>
                <a:latin typeface="Arial"/>
              </a:defRPr>
            </a:pPr>
            <a:r>
              <a:t>3. OPEN-SOURCE CODE &amp; DELIVERABLES</a:t>
            </a:r>
          </a:p>
          <a:p>
            <a:pPr>
              <a:spcAft>
                <a:spcPts val="1200"/>
              </a:spcAft>
              <a:defRPr sz="1400" b="0">
                <a:solidFill>
                  <a:srgbClr val="94A3B8"/>
                </a:solidFill>
                <a:latin typeface="Arial"/>
              </a:defRPr>
            </a:pPr>
            <a:r>
              <a:t>Everything is built, verified, and public: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GitHub Repository:</a:t>
            </a:r>
          </a:p>
          <a:p>
            <a:pPr>
              <a:spcAft>
                <a:spcPts val="1000"/>
              </a:spcAft>
              <a:defRPr sz="1350" b="1">
                <a:solidFill>
                  <a:srgbClr val="38BDF8"/>
                </a:solidFill>
                <a:latin typeface="Arial"/>
              </a:defRPr>
            </a:pPr>
            <a:r>
              <a:t>https://github.com/tarun05-design/FortressFi.git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Live Interactive Cockpit:</a:t>
            </a:r>
          </a:p>
          <a:p>
            <a:pPr>
              <a:spcAft>
                <a:spcPts val="1000"/>
              </a:spcAft>
              <a:defRPr sz="1350" b="1">
                <a:solidFill>
                  <a:srgbClr val="34D399"/>
                </a:solidFill>
                <a:latin typeface="Arial"/>
              </a:defRPr>
            </a:pPr>
            <a:r>
              <a:t>https://fortressfi.onrender.com</a:t>
            </a:r>
            <a:br/>
            <a:r>
              <a:t>(Real-time WebSockets &amp; Scenario Lab)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Verification Metrics:</a:t>
            </a:r>
          </a:p>
          <a:p>
            <a:pPr>
              <a:spcAft>
                <a:spcPts val="1000"/>
              </a:spcAft>
              <a:defRPr sz="1350" b="0">
                <a:solidFill>
                  <a:srgbClr val="34D399"/>
                </a:solidFill>
                <a:latin typeface="Arial"/>
              </a:defRPr>
            </a:pPr>
            <a:r>
              <a:t>40 Automated Tests Passing (0.25s)</a:t>
            </a:r>
            <a:br/>
            <a:r>
              <a:t>Comprehensive Architecture Documentation</a:t>
            </a:r>
            <a:br/>
            <a:r>
              <a:t>Zero External API Failure Risk</a:t>
            </a:r>
          </a:p>
          <a:p>
            <a:pPr>
              <a:spcAft>
                <a:spcPts val="200"/>
              </a:spcAft>
              <a:defRPr sz="1500" b="1">
                <a:solidFill>
                  <a:srgbClr val="FFFFFF"/>
                </a:solidFill>
                <a:latin typeface="Arial"/>
              </a:defRPr>
            </a:pPr>
            <a:r>
              <a:t>• Team Contact:</a:t>
            </a:r>
          </a:p>
          <a:p>
            <a:pPr>
              <a:spcAft>
                <a:spcPts val="0"/>
              </a:spcAft>
              <a:defRPr sz="1350" b="0">
                <a:solidFill>
                  <a:srgbClr val="CBD5E1"/>
                </a:solidFill>
                <a:latin typeface="Arial"/>
              </a:defRPr>
            </a:pPr>
            <a:r>
              <a:t>Built proudly for Init26 FinTech 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58</Words>
  <Application>Microsoft Office PowerPoint</Application>
  <PresentationFormat>Custom</PresentationFormat>
  <Paragraphs>14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Poppins Bold</vt:lpstr>
      <vt:lpstr>Antonio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FOSS Workshop (1980 x 1080 px)</dc:title>
  <dc:creator>Prathamesh</dc:creator>
  <cp:lastModifiedBy>Prathamesh Mahadik</cp:lastModifiedBy>
  <cp:revision>2</cp:revision>
  <dcterms:created xsi:type="dcterms:W3CDTF">2006-08-16T00:00:00Z</dcterms:created>
  <dcterms:modified xsi:type="dcterms:W3CDTF">2026-09-05T09:24:28Z</dcterms:modified>
  <dc:identifier>DAHRPhLBNzY</dc:identifier>
</cp:coreProperties>
</file>